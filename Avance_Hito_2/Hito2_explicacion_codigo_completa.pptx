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82"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3"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E8017822-922E-AC74-061B-4C9ED5DB105C}">
          <p14:sldIdLst>
            <p14:sldId id="256"/>
            <p14:sldId id="282"/>
            <p14:sldId id="257"/>
            <p14:sldId id="258"/>
          </p14:sldIdLst>
        </p14:section>
        <p14:section name="1 · Modelo DH y FK" id="{36809F5C-4D21-8D56-2247-930224D58FB4}">
          <p14:sldIdLst>
            <p14:sldId id="259"/>
            <p14:sldId id="260"/>
            <p14:sldId id="261"/>
          </p14:sldIdLst>
        </p14:section>
        <p14:section name="2 · Pieper" id="{09BE3537-1751-8404-6F2D-EB4920FDBBDF}">
          <p14:sldIdLst>
            <p14:sldId id="262"/>
            <p14:sldId id="263"/>
            <p14:sldId id="264"/>
            <p14:sldId id="265"/>
            <p14:sldId id="266"/>
          </p14:sldIdLst>
        </p14:section>
        <p14:section name="3 · Validación y q_f" id="{CBE4DDBE-E7B0-8B7B-6A11-EE75374807EB}">
          <p14:sldIdLst>
            <p14:sldId id="267"/>
            <p14:sldId id="268"/>
            <p14:sldId id="269"/>
          </p14:sldIdLst>
        </p14:section>
        <p14:section name="4 · LSPB" id="{ABCAC3FE-01EE-3099-35C5-2607D5A9126B}">
          <p14:sldIdLst>
            <p14:sldId id="270"/>
            <p14:sldId id="271"/>
            <p14:sldId id="272"/>
          </p14:sldIdLst>
        </p14:section>
        <p14:section name="5 · Jacobiano" id="{86EB28E6-3318-8E12-13CE-F8378135A7E4}">
          <p14:sldIdLst>
            <p14:sldId id="273"/>
            <p14:sldId id="274"/>
            <p14:sldId id="275"/>
            <p14:sldId id="276"/>
          </p14:sldIdLst>
        </p14:section>
        <p14:section name="6 · Dinámica 1R" id="{BB794906-38CB-7D47-78DD-0DD3A247ECC3}">
          <p14:sldIdLst>
            <p14:sldId id="277"/>
            <p14:sldId id="278"/>
            <p14:sldId id="279"/>
            <p14:sldId id="280"/>
          </p14:sldIdLst>
        </p14:section>
        <p14:section name="Cierre" id="{B32AA838-4101-09E4-E4FF-8E62AA437E16}">
          <p14:sldIdLst>
            <p14:sldId id="281"/>
            <p14:sldId id="28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5411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presentación recorre el notebook Paso1_Modelo_DH_qi_Td-Laptop.ipynb de inicio a fin (79 celdas, 51/51 verificaciones aprobadas) y sus módulos irb120_modelo.py, pieper.py, seleccion_ramas.py, lspb.py, jacobiano.py y dinamica.py de la carpeta 000 Notebooks. Cada paso muestra la ecuación, la función o línea que la implementa y la fuente bibliográfica de la carpeta local. Las decisiones del grupo que no salen de la bibliografía se marcan en naranja.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Estas elecciones no las fija la clase. Ninguna cambia la matemática: fijan datos que faltan o agregan comprobaciones. En la defensa se presentan como criterio propio con su motivo.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pipeline es el que exige la guía oficial, sección 2, y el que dibuja la diapositiva 10 de W09-S02. Ejemplo numérico en todo el documento: q_i = 0 (calibración ABB) y T_d = (0.25, -0.10, 0.12 m; roll 180°, pitch 0°, yaw 0°). En el notebook la pose se llama T_d1.</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Todas las claves W, HR, AP, LH, HD, TP y G2 son archivos de la carpeta Repositorio\bibliografia. 'diap. n' es el número de página del PDF. Siciliano, Craig y Spong son los textos que lista el sílabo (Semana_9/IMT-342-Robotica.pdf, sección 5) pero NO están en la carpeta: sus secciones se citan como complemento y conviene confirmarlas en el libro antes del informe. Las diapositivas W07–W09 no traen la matriz DH ni la descomposición ZYZ; para esas dos piezas se cita Siciliano §2.8.2 y §2.4.1 y los apuntes AP.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A_i = Rz(θ_i) Tz(d_i) Tx(a_i) Rx(α_i). Rz gira alrededor del eje de la junta z_{i-1} y es lo único que cambia con q_i; Tz avanza sobre z_{i-1}; Tx avanza sobre la normal común x_i; Rx inclina z_i. El bloque 3x3 es la rotación y la última columna el origen o_i. Es DH estándar (Siciliano §2.8.2), la que pide el sílabo. Craig usa DH modificada, por eso su matriz se ve distinta. Los offsets: −90° en la junta 2 hace que q2 = 0 deje el brazo vertical como en la calibración ABB; +180° en la junta 6 hace coincidir el marco con tool0 (decisión del grupo).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A_i está expresada en el marco móvil i−1, por eso se post-multiplica (composición respecto del marco actual, Siciliano §2.3). Al revés cada giro sería respecto de la base. La función marcos guarda T_0^0 … T_0^6 y T_0^TCP: la tercera columna de cada una es z_i y la cuarta o_i, que después usan Pieper (R_0^3), la selección (codo o_2 y muñeca o_4) y el Jacobiano (todos los z_{i-1}, o_{i-1}). La herramienta de 0.150 m es decisión del grupo: la pinza real no está especificada y la Parte 1 usaba 0.120 m. Comprobación en q = 0: brida en x = d4 + d6 = 0.374 m, z = d1 + a2 + a3 = 0.630 m, igual que el plano ABB; el TCP suma 0.150 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el IRB 120 a4 = a5 = d5 = 0: los ejes 4, 5 y 6 se cortan en W. La posición de W depende solo de q1, q2, q3, y de W al TCP hay un segmento fijo de 0.222 m (brida 0.072 + herramienta 0.150) sobre z6. Retrocediendo ese segmento desde p_d se obtiene W. Ejemplo: p_W = (0.25, −0.10, 0.342) m. Luego q1 = atan2(y, x) o +π (brazo de frente o de espaldas, r con signo). Con q1 fijo, q2 y q3 viven en un plano vertical con coordenadas (r, s). La IK no es invertir T: eso solo invierte el sentido de la transformación (W07 diap. 2).</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deducción del 2R de W07 diap. 4–5: elevar al cuadrado y sumar para eliminar un ángulo, despejar el coseno del codo, s = ±√(1−c²) y atan2. Aquí a1 → L2 = 0.270 m y a2 → L3 = √(d4² + a3²) = 0.310 m. El antebrazo tiene un desfase a3 = 0.070 m, de ahí δ = atan2(a3, d4) = 13.05°; por cómo mide ABB q3, aparece sin(q3 − δ) en vez de un coseno, por eso k va primero en atan2. Si |k| &gt; 1, W está fuera de alcance (W07 diap. 6). El signo ± es codo arriba / codo abajo, posturas reales. q2 es la segunda fórmula del 2R: ángulo hombro→W menos el aporte del codo; (r, s) en vez de (s, r) porque ABB mide q2 desde la vertical. Ejemplo: k = 0.5603 → q3 = 47.13° o 158.97°; q2 = 79.07° − 69.44° = 9.63°.</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R_0^3 sale de la misma FK con q1..q3, y como es ortogonal su inversa es la transpuesta. A4A5A6 con α4 = +90°, α5 = −90° y el offset de 180° da una secuencia ZYZ, que se resuelve con las fórmulas de Euler ZYZ (Siciliano §2.4.1, apuntes AP hoja 4). El signo de la raíz da las dos ramas de muñeca. Si sin β &lt; 1e-9 (q5 = 0) solo q4 + q6 está determinado: el grupo fija q4 = q4_ref y conserva 2 ramas marcadas como singulares para que la tabla tenga 8 filas. atan2 en todas las juntas: tan⁻¹(−1/−1) daría π/4 en vez de −3π/4 (W07 diap. 11). Envolver es válido porque A_i es periódica en 2π; para q6 (±400°) se elige el representante más cercano a q_i.</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8 ramas son reales (|k| &lt; 1) y las 8 reproducen T_d (siguiente sección). Vienen en pares que comparten brazo y codo y solo cambian la muñeca. Solo la rama 1 respeta los límites del datasheet ABB. G2 §3.1 pide enumerar hasta 8 ramas con atan2 y una tabla resumen.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W07 diap. 12: ninguna solución de IK está completa sin verificación; se reingresa a la FK y se compara R y p. Un p_W correcto puede fallar la orientación, por eso se mide también e_R, el ángulo de la rotación relativa (representación eje-ángulo, Siciliano §2.5): tr R = 1 + 2cos φ y ‖vee(R−Rᵀ)‖ = 2 sin φ. Se usa atan2 y no arccos porque arccos pierde precisión cerca de 0. Tolerancias de 1 µm y 1 µrad son decisión del grupo (10⁻³ aceptaría 1 mm). La prueba de ida y vuelta no la pide la guía: demuestra la deducción en todo el espacio articular.</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Filtros: F1 real (|k| ≤ 1, W07 diap. 6, HR paso 7), F2 FK (W07 diap. 12), F3 límites (W07 diap. 10 paso 8, AP hoja 5). G2 §3.1 pide justificar la configuración elegida pero no dice cómo: el puntaje es criterio del grupo. I_lim = margen al tope más cercano; I_sing = |sin q5|, lejos de la singularidad de muñeca (respaldo W08b diap. 13); I_esp = altura mínima de codo y W sobre la mesa / 0.20 m; I_mov = 1 − ‖W(q − q_i)‖/‖Wπ‖ con W = (1,1,1,½,½,½). Para T_d el puntaje no decide nada: solo la rama 1 es admisible (60.4 puntos).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Pieper da solo el destino; dos puntos no definen una ley de movimiento (W09a diap. 7). Supuestos de clase: reposo en extremos y aceleración constante q̈c. La fórmula de t_c sale de igualar posiciones en t_f − t_c: D = q̈c t_c (t_f − t_c), ecuación de segundo grado en t_c cuya raíz menor es la de clase; el discriminante no negativo es la aceleración mínima. Con la igualdad el perfil es triangular. El código reproduce el ejemplo guiado (q_i = 0, q_f = 2, t_f = 3, q̈c = 1 → t_c = 1 s, q̇c = 1 rad/s).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clase trata una junta. Para que las 6 empiecen y terminen juntas (decisión del grupo, extensión estándar de Siciliano §4.2.1): 1) tiempo mínimo de cada junta con v_max y a_max; 2) junta crítica = la más lenta, t_f redondeado a 0.01 s; 3) t_c común con la fórmula de clase en la junta crítica; 4) cada junta: q̇c = D/(t_f − t_c), q̈c = q̇c/t_c. v_max al 25 % del datasheet y a_max = v_max/0.25 s son supuestos declarados: ABB no publica aceleraciones. Resultado: t_f = 1.76 s, t_c = 0.2493 s, crítica q6 (158.2°, 100 % de sus límites reducidos). Verificaciones: reposo en fronteras, continuidad, límites, área bajo q̇ = D, FK final = T_d.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Twist con velocidad lineal arriba y angular abajo (convención Siciliano, W08a diap. 5). Si solo gira la junta i, el resto del robot rota como sólido alrededor de z_{i-1} que pasa por o_{i-1}: v = ω × r, r = p − o_{i-1} (W08a diap. 6–7). Todos los vectores en el marco base (W08b diap. 3). Tres validaciones: a mano en q_i = 0 (como el 2R de W08b diap. 4–6), diferencias finitas de la FK con Ṙ Rᵀ = [ω]× (Siciliano §3.1.1), y v = J q̇ contra la derivada numérica de p(q(t)). Juntas 1–3 tienen palancas de 0.27–0.49 m y posicionan; 4–6 ≤ 0.222 m y orientan: la misma separación de Pieper.</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Definición universal: singular si rank J &lt; rank máx (W08b diap. 10, W09a diap. 3–4, RS criterio A); det J = 0 solo es válido porque J es cuadrada. El rango se mide con SVD, como np.linalg.matrix_rank de los scripts de clase; tolerancia 1e-6 es del grupo. Con referencia en W, las juntas 4–6 no mueven W y J es triangular por bloques; cambiar el punto de referencia no cambia det J. det J11 = L2 L3 cos(q3 − δ) r_W y det J22 = −sin q5 (Siciliano §3.3.1–3.3.3), análogo a det Jp = a1 a2 sin q2 del 2R (W08a diap. 12). Verificado en 200 posturas. La otra raíz del codo, q3 = 103°, está fuera del límite de 70°.</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Experimento independiente pedido por G2 §3.3: desde q_f se fija todo y q5 baja 30° → 0°. σ6 cae proporcional a |sin q5| (σ6/|sin q5| ≈ 0.283), el rango baja a 5 exactamente en 0. Para un twist unitario en la dirección más débil u6 se necesita |q̇| = 1/σ6: con q5 = 1° ya son 200 rad/s contra 1.40 disponibles. Es la amplificación J_ε = diag(1, ε) ⇒ q̇ = 1/ε de W08b diap. 13, W09a diap. 6 y RS sección 4. Qué se pierde: v6 = (0,0,0,1,0,−1)/√2 (q̇4 = −q̇6 no mueve el TCP) y la rotación alrededor de z3 × z4. El robot arranca en q_i singular (rango 5 en t = 0) sin problema: la trayectoria es articular, nunca invierte J y en t = 0 está en reposo. Una trayectoria cartesiana q̇ = J⁻¹ẋ sí fallaría (W08a diap. 11).</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cinemática dice cómo se mueve; la dinámica cuánto esfuerzo cuesta (W09b diap. 2). La ecuación general tiene término inercial, Coriolis/centrífugo y gravedad (diap. 6). El handoff prohíbe derivar los 6 GDL sin datos inerciales del fabricante y G2 §3.4 pide el 1R. Derivación: T = ½Jq̇², V = mgℓc(1 − cos q), L = T − V, Euler-Lagrange → τ = Jq̈ + mgℓc sin q, con J = Ic + mℓc² por Steiner (diap. 3–5). En 1R C = 0. El código reproduce estática, ejercicios 3 y 4 del solucionario W09-S02 y la tabla de diap. 8 (0.86, 4.13, 4.43 N·m).</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Decisiones del grupo: junta 3 (codo) moviendo el antebrazo, porque su gravedad es la más cambiante (θ pasa de −103° a −46°, cruzando la horizontal). Ángulo absoluto θ = q2 + q3 − δ − π/2 porque los ejes 2 y 3 son paralelos. m = 1 kg (masa ilustrativa de clase, ABB no publica masas), barra uniforme: ℓc = 0.155 m, J = mL²/3 = 0.032 kg·m². τ es lineal en m. Límite: el 1R supone el eje del codo fijo, pero q2 lo traslada 9.6°. Lectura: τ_I copia θ'' (escalones), τ_g es suave como sin θ, el pico |τ| = 1.52 N·m está en t = 0.472 s en velocidad constante con el antebrazo horizontal. Validación energética ∫τθ̇dt = ΔV = −1.394 J.</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Tabla de fases (celda 67): en crucero θ'' = 0 pero τ = −1.47 N·m por gravedad (W09b diap. 8, solucionario ej. 5). Misma ruta más rápida: τ_g igual, θ'' × k²; con k = 4 (100 % del datasheet) τ_I ya es del orden de la gravedad (W09b diap. 2, ej. 6). En t = 0 el robot está singular (rango 5) con τ = −1.40 N·m finito; el pico ocurre en postura regular. La singularidad se define por movilidad, el torque por inercia y gravedad (W09b diap. 9, ej. 7).</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Respuestas largas en el documento de explicación (sección 8, 22 preguntas). Rúbrica G (20 %): cada integrante debe explicar pipeline, matemática e interpretación física.</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645920"/>
          </a:xfrm>
          <a:prstGeom prst="rect">
            <a:avLst/>
          </a:prstGeom>
          <a:noFill/>
          <a:ln/>
        </p:spPr>
        <p:txBody>
          <a:bodyPr wrap="square" rtlCol="0"/>
          <a:lstStyle>
            <a:lvl1pPr marL="0" indent="0">
              <a:buNone/>
              <a:defRPr lang="en-US" sz="4400" b="1" dirty="0">
                <a:solidFill>
                  <a:schemeClr val="bg1"/>
                </a:solidFill>
                <a:latin typeface="Cambria" pitchFamily="34" charset="0"/>
                <a:ea typeface="Cambria" pitchFamily="34" charset="-122"/>
                <a:cs typeface="Cambria" pitchFamily="34" charset="-120"/>
              </a:defRPr>
            </a:lvl1pPr>
          </a:lstStyle>
          <a:p>
            <a:pPr marL="0" indent="0">
              <a:buNone/>
            </a:pPr>
            <a:endParaRPr lang="en-US" sz="4400" dirty="0"/>
          </a:p>
        </p:txBody>
      </p:sp>
      <p:sp>
        <p:nvSpPr>
          <p:cNvPr id="3" name="Text 0"/>
          <p:cNvSpPr>
            <a:spLocks noGrp="1"/>
          </p:cNvSpPr>
          <p:nvPr>
            <p:ph type="body" idx="101" hasCustomPrompt="1"/>
          </p:nvPr>
        </p:nvSpPr>
        <p:spPr>
          <a:xfrm>
            <a:off x="731520" y="3657600"/>
            <a:ext cx="10698480" cy="146304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CION">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2377440" y="2377440"/>
            <a:ext cx="9052560" cy="1097280"/>
          </a:xfrm>
          <a:prstGeom prst="rect">
            <a:avLst/>
          </a:prstGeom>
          <a:noFill/>
          <a:ln/>
        </p:spPr>
        <p:txBody>
          <a:bodyPr wrap="square" rtlCol="0"/>
          <a:lstStyle>
            <a:lvl1pPr marL="0" indent="0" algn="l">
              <a:buNone/>
              <a:defRPr lang="en-US" sz="4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000" dirty="0"/>
          </a:p>
        </p:txBody>
      </p:sp>
      <p:sp>
        <p:nvSpPr>
          <p:cNvPr id="3" name="Text 0"/>
          <p:cNvSpPr>
            <a:spLocks noGrp="1"/>
          </p:cNvSpPr>
          <p:nvPr>
            <p:ph type="body" idx="101" hasCustomPrompt="1"/>
          </p:nvPr>
        </p:nvSpPr>
        <p:spPr>
          <a:xfrm>
            <a:off x="2377440" y="3474720"/>
            <a:ext cx="9052560" cy="1280160"/>
          </a:xfrm>
          <a:prstGeom prst="rect">
            <a:avLst/>
          </a:prstGeom>
          <a:noFill/>
          <a:ln/>
        </p:spPr>
        <p:txBody>
          <a:bodyPr wrap="square" rtlCol="0"/>
          <a:lstStyle>
            <a:lvl1pPr marL="0" indent="0">
              <a:buNone/>
              <a:defRPr lang="en-US" sz="1800" dirty="0">
                <a:solidFill>
                  <a:schemeClr val="bg2"/>
                </a:solidFill>
              </a:defRPr>
            </a:lvl1pPr>
          </a:lstStyle>
          <a:p>
            <a:pPr marL="0" indent="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lstStyle>
            <a:lvl1pPr marL="0" indent="0">
              <a:buNone/>
              <a:defRPr lang="en-US" sz="3000" b="1" dirty="0">
                <a:solidFill>
                  <a:schemeClr val="tx2"/>
                </a:solidFill>
                <a:latin typeface="Cambria" pitchFamily="34" charset="0"/>
                <a:ea typeface="Cambria" pitchFamily="34" charset="-122"/>
                <a:cs typeface="Cambria" pitchFamily="34" charset="-120"/>
              </a:defRPr>
            </a:lvl1pPr>
          </a:lstStyle>
          <a:p>
            <a:pPr marL="0" indent="0">
              <a:buNone/>
            </a:pPr>
            <a:endParaRPr lang="en-US" sz="30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marL="0" indent="0">
              <a:buNone/>
            </a:pPr>
            <a:r>
              <a:rPr lang="en-US" sz="1000" dirty="0">
                <a:solidFill>
                  <a:schemeClr val="accent3"/>
                </a:solidFill>
              </a:rPr>
              <a:t>Hito 2 · IMT-342 · ABB IRB 120</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4.xml"/><Relationship Id="rId5" Type="http://schemas.openxmlformats.org/officeDocument/2006/relationships/image" Target="../media/image26.png"/><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4.xml"/><Relationship Id="rId5" Type="http://schemas.openxmlformats.org/officeDocument/2006/relationships/image" Target="../media/image29.png"/><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10698480" cy="1645920"/>
          </a:xfrm>
          <a:prstGeom prst="rect">
            <a:avLst/>
          </a:prstGeom>
          <a:noFill/>
          <a:ln/>
        </p:spPr>
        <p:txBody>
          <a:bodyPr wrap="square" rtlCol="0" anchor="b"/>
          <a:lstStyle/>
          <a:p>
            <a:pPr marL="0" indent="0">
              <a:buNone/>
            </a:pPr>
            <a:r>
              <a:rPr lang="en-US" sz="4400" b="1" dirty="0">
                <a:solidFill>
                  <a:schemeClr val="bg1"/>
                </a:solidFill>
                <a:latin typeface="Cambria" pitchFamily="34" charset="0"/>
                <a:ea typeface="Cambria" pitchFamily="34" charset="-122"/>
                <a:cs typeface="Cambria" pitchFamily="34" charset="-120"/>
              </a:rPr>
              <a:t>Hito 2: del modelo DH al torque del ABB IRB 120</a:t>
            </a:r>
            <a:endParaRPr lang="en-US" sz="4400" dirty="0"/>
          </a:p>
        </p:txBody>
      </p:sp>
      <p:sp>
        <p:nvSpPr>
          <p:cNvPr id="3" name="Text 0"/>
          <p:cNvSpPr>
            <a:spLocks noGrp="1"/>
          </p:cNvSpPr>
          <p:nvPr>
            <p:ph type="body" idx="101" hasCustomPrompt="1"/>
          </p:nvPr>
        </p:nvSpPr>
        <p:spPr>
          <a:xfrm>
            <a:off x="731520" y="3657600"/>
            <a:ext cx="10698480" cy="1463040"/>
          </a:xfrm>
          <a:prstGeom prst="rect">
            <a:avLst/>
          </a:prstGeom>
          <a:noFill/>
          <a:ln/>
        </p:spPr>
        <p:txBody>
          <a:bodyPr wrap="square" rtlCol="0" anchor="t"/>
          <a:lstStyle/>
          <a:p>
            <a:pPr marL="0" indent="0">
              <a:buNone/>
            </a:pPr>
            <a:r>
              <a:rPr lang="en-US" sz="1800" dirty="0">
                <a:solidFill>
                  <a:schemeClr val="bg2"/>
                </a:solidFill>
              </a:rPr>
              <a:t>Explicación del notebook Paso1_Modelo_DH_qi_Td-Laptop, con la ecuación, el código y la fuente de cada paso</a:t>
            </a:r>
            <a:endParaRPr lang="en-US" sz="1800" dirty="0"/>
          </a:p>
          <a:p>
            <a:pPr marL="0" indent="0">
              <a:buNone/>
            </a:pPr>
            <a:r>
              <a:rPr lang="en-US" sz="1800" dirty="0">
                <a:solidFill>
                  <a:schemeClr val="bg2"/>
                </a:solidFill>
              </a:rPr>
              <a:t>IMT-342 Robótica · UCB Tarija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Lo que eligió el grupo y por qué</a:t>
            </a:r>
            <a:endParaRPr lang="en-US" sz="3000" dirty="0"/>
          </a:p>
        </p:txBody>
      </p:sp>
      <p:graphicFrame>
        <p:nvGraphicFramePr>
          <p:cNvPr id="28" name="tabla-218"/>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572000"/>
        </p:xfrm>
        <a:graphic>
          <a:graphicData uri="http://schemas.openxmlformats.org/drawingml/2006/table">
            <a:tbl>
              <a:tblPr/>
              <a:tblGrid>
                <a:gridCol w="420624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gridCol w="2679192">
                  <a:extLst>
                    <a:ext uri="{9D8B030D-6E8A-4147-A177-3AD203B41FA5}">
                      <a16:colId xmlns:a16="http://schemas.microsoft.com/office/drawing/2014/main" val="20002"/>
                    </a:ext>
                  </a:extLst>
                </a:gridCol>
              </a:tblGrid>
              <a:tr h="457200">
                <a:tc>
                  <a:txBody>
                    <a:bodyPr/>
                    <a:lstStyle/>
                    <a:p>
                      <a:pPr marL="0" indent="0">
                        <a:buNone/>
                      </a:pPr>
                      <a:r>
                        <a:rPr lang="en-US" sz="1300" b="1" dirty="0">
                          <a:solidFill>
                            <a:schemeClr val="bg1"/>
                          </a:solidFill>
                        </a:rPr>
                        <a:t>Decisión</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Motivo</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Dónde</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buNone/>
                      </a:pPr>
                      <a:r>
                        <a:rPr lang="en-US" sz="1300" dirty="0">
                          <a:solidFill>
                            <a:schemeClr val="tx1"/>
                          </a:solidFill>
                        </a:rPr>
                        <a:t>Herramienta 0.150 m, separada de la tabla DH</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pinza real no especificada; deja tool0 intacto</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irb120_modelo.py:27</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57200">
                <a:tc>
                  <a:txBody>
                    <a:bodyPr/>
                    <a:lstStyle/>
                    <a:p>
                      <a:pPr marL="0" indent="0">
                        <a:buNone/>
                      </a:pPr>
                      <a:r>
                        <a:rPr lang="en-US" sz="1300" dirty="0">
                          <a:solidFill>
                            <a:schemeClr val="tx1"/>
                          </a:solidFill>
                        </a:rPr>
                        <a:t>Offset 180° en q6</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marco en q = 0 igual a tool0 de ABB</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irb120_modelo.py:23</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57200">
                <a:tc>
                  <a:txBody>
                    <a:bodyPr/>
                    <a:lstStyle/>
                    <a:p>
                      <a:pPr marL="0" indent="0">
                        <a:buNone/>
                      </a:pPr>
                      <a:r>
                        <a:rPr lang="en-US" sz="1300" dirty="0">
                          <a:solidFill>
                            <a:schemeClr val="tx1"/>
                          </a:solidFill>
                        </a:rPr>
                        <a:t>q_i = 0 y T_d propia</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única referencia ABB; aún no hay poses del docente</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irb120_modelo.py:37, 43</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57200">
                <a:tc>
                  <a:txBody>
                    <a:bodyPr/>
                    <a:lstStyle/>
                    <a:p>
                      <a:pPr marL="0" indent="0">
                        <a:buNone/>
                      </a:pPr>
                      <a:r>
                        <a:rPr lang="en-US" sz="1300" dirty="0">
                          <a:solidFill>
                            <a:schemeClr val="tx1"/>
                          </a:solidFill>
                        </a:rPr>
                        <a:t>8 filas aun con muñeca singular; envolver y q6 cercano</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tabla completa; comparar con límites</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pieper.py:37, 84–89</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57200">
                <a:tc>
                  <a:txBody>
                    <a:bodyPr/>
                    <a:lstStyle/>
                    <a:p>
                      <a:pPr marL="0" indent="0">
                        <a:buNone/>
                      </a:pPr>
                      <a:r>
                        <a:rPr lang="en-US" sz="1300" dirty="0">
                          <a:solidFill>
                            <a:schemeClr val="tx1"/>
                          </a:solidFill>
                        </a:rPr>
                        <a:t>Tolerancia FK 1 µm / 1 µrad; prueba de ida y vuelta</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10⁻³ aceptaría 1 mm; evidencia global</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pieper.py:33–34 · celda 23</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57200">
                <a:tc>
                  <a:txBody>
                    <a:bodyPr/>
                    <a:lstStyle/>
                    <a:p>
                      <a:pPr marL="0" indent="0">
                        <a:buNone/>
                      </a:pPr>
                      <a:r>
                        <a:rPr lang="en-US" sz="1300" dirty="0">
                          <a:solidFill>
                            <a:schemeClr val="tx1"/>
                          </a:solidFill>
                        </a:rPr>
                        <a:t>Puntaje 0–100 (pesos 0.25/0.25/0.15/0.35)</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G2 pide justificar sin decir cómo</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seleccion_ramas.py:25</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457200">
                <a:tc>
                  <a:txBody>
                    <a:bodyPr/>
                    <a:lstStyle/>
                    <a:p>
                      <a:pPr marL="0" indent="0">
                        <a:buNone/>
                      </a:pPr>
                      <a:r>
                        <a:rPr lang="en-US" sz="1300" dirty="0">
                          <a:solidFill>
                            <a:schemeClr val="tx1"/>
                          </a:solidFill>
                        </a:rPr>
                        <a:t>v_max 25 % · a_max = v_max/0.25 s · sincronizar</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laboratorio; ABB no publica aceleraciones</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lspb.py:23–26, 60–76</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57200">
                <a:tc>
                  <a:txBody>
                    <a:bodyPr/>
                    <a:lstStyle/>
                    <a:p>
                      <a:pPr marL="0" indent="0">
                        <a:buNone/>
                      </a:pPr>
                      <a:r>
                        <a:rPr lang="en-US" sz="1300" dirty="0">
                          <a:solidFill>
                            <a:schemeClr val="tx1"/>
                          </a:solidFill>
                        </a:rPr>
                        <a:t>Rango con σ &gt; 10⁻⁶; experimento q5 → 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criterio numérico; singularidad alcanzable</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jacobiano.py:19 · celda 56</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r h="457200">
                <a:tc>
                  <a:txBody>
                    <a:bodyPr/>
                    <a:lstStyle/>
                    <a:p>
                      <a:pPr marL="0" indent="0">
                        <a:buNone/>
                      </a:pPr>
                      <a:r>
                        <a:rPr lang="en-US" sz="1300" dirty="0">
                          <a:solidFill>
                            <a:schemeClr val="tx1"/>
                          </a:solidFill>
                        </a:rPr>
                        <a:t>Codo como 1R, m = 1 kg, barra uniforme</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gravedad más cambiante; ABB no publica masas</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dinamica.py:23–39</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Resumen: siete pasos llevan al robot de q_i a T_d</a:t>
            </a:r>
            <a:endParaRPr lang="en-US" sz="3000" dirty="0"/>
          </a:p>
        </p:txBody>
      </p:sp>
      <p:sp>
        <p:nvSpPr>
          <p:cNvPr id="4" name="paso-1"/>
          <p:cNvSpPr/>
          <p:nvPr/>
        </p:nvSpPr>
        <p:spPr>
          <a:xfrm>
            <a:off x="548640" y="1463040"/>
            <a:ext cx="1481328" cy="2651760"/>
          </a:xfrm>
          <a:prstGeom prst="roundRect">
            <a:avLst>
              <a:gd name="adj" fmla="val 4938"/>
            </a:avLst>
          </a:prstGeom>
          <a:solidFill>
            <a:schemeClr val="accent5"/>
          </a:solidFill>
          <a:ln w="12700">
            <a:solidFill>
              <a:schemeClr val="accent5"/>
            </a:solidFill>
            <a:prstDash val="solid"/>
          </a:ln>
        </p:spPr>
      </p:sp>
      <p:sp>
        <p:nvSpPr>
          <p:cNvPr id="5" name="circulo-2"/>
          <p:cNvSpPr/>
          <p:nvPr/>
        </p:nvSpPr>
        <p:spPr>
          <a:xfrm>
            <a:off x="1014984" y="1645920"/>
            <a:ext cx="548640" cy="548640"/>
          </a:xfrm>
          <a:prstGeom prst="ellipse">
            <a:avLst/>
          </a:prstGeom>
          <a:solidFill>
            <a:schemeClr val="accent1"/>
          </a:solidFill>
          <a:ln w="12700">
            <a:solidFill>
              <a:schemeClr val="accent1"/>
            </a:solidFill>
            <a:prstDash val="solid"/>
          </a:ln>
        </p:spPr>
      </p:sp>
      <p:sp>
        <p:nvSpPr>
          <p:cNvPr id="6" name="n-3"/>
          <p:cNvSpPr txBox="1"/>
          <p:nvPr/>
        </p:nvSpPr>
        <p:spPr>
          <a:xfrm>
            <a:off x="1014984" y="16459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4"/>
          <p:cNvSpPr txBox="1"/>
          <p:nvPr/>
        </p:nvSpPr>
        <p:spPr>
          <a:xfrm>
            <a:off x="640080" y="2286000"/>
            <a:ext cx="1298448" cy="457200"/>
          </a:xfrm>
          <a:prstGeom prst="rect">
            <a:avLst/>
          </a:prstGeom>
          <a:noFill/>
          <a:ln/>
        </p:spPr>
        <p:txBody>
          <a:bodyPr wrap="square" lIns="0" tIns="0" rIns="0" bIns="0" rtlCol="0" anchor="ctr"/>
          <a:lstStyle/>
          <a:p>
            <a:pPr marL="0" indent="0" algn="ctr">
              <a:buNone/>
            </a:pPr>
            <a:r>
              <a:rPr lang="en-US" sz="1500" b="1" dirty="0">
                <a:solidFill>
                  <a:schemeClr val="tx2"/>
                </a:solidFill>
              </a:rPr>
              <a:t>DH y FK</a:t>
            </a:r>
            <a:endParaRPr lang="en-US" sz="1500" dirty="0"/>
          </a:p>
        </p:txBody>
      </p:sp>
      <p:sp>
        <p:nvSpPr>
          <p:cNvPr id="8" name="d-5"/>
          <p:cNvSpPr txBox="1"/>
          <p:nvPr/>
        </p:nvSpPr>
        <p:spPr>
          <a:xfrm>
            <a:off x="658368" y="2788920"/>
            <a:ext cx="1261872" cy="1234440"/>
          </a:xfrm>
          <a:prstGeom prst="rect">
            <a:avLst/>
          </a:prstGeom>
          <a:noFill/>
          <a:ln/>
        </p:spPr>
        <p:txBody>
          <a:bodyPr wrap="square" lIns="0" tIns="0" rIns="0" bIns="0" rtlCol="0" anchor="t"/>
          <a:lstStyle/>
          <a:p>
            <a:pPr marL="0" indent="0" algn="ctr">
              <a:buNone/>
            </a:pPr>
            <a:r>
              <a:rPr lang="en-US" sz="1300" dirty="0">
                <a:solidFill>
                  <a:schemeClr val="tx1"/>
                </a:solidFill>
              </a:rPr>
              <a:t>6 matrices A_i → TCP en (0.524, 0, 0.630) m</a:t>
            </a:r>
            <a:endParaRPr lang="en-US" sz="1300" dirty="0"/>
          </a:p>
        </p:txBody>
      </p:sp>
      <p:sp>
        <p:nvSpPr>
          <p:cNvPr id="9" name="paso-6"/>
          <p:cNvSpPr/>
          <p:nvPr/>
        </p:nvSpPr>
        <p:spPr>
          <a:xfrm>
            <a:off x="2148840" y="1463040"/>
            <a:ext cx="1481328" cy="2651760"/>
          </a:xfrm>
          <a:prstGeom prst="roundRect">
            <a:avLst>
              <a:gd name="adj" fmla="val 4938"/>
            </a:avLst>
          </a:prstGeom>
          <a:solidFill>
            <a:schemeClr val="bg2"/>
          </a:solidFill>
          <a:ln w="12700">
            <a:solidFill>
              <a:schemeClr val="bg2"/>
            </a:solidFill>
            <a:prstDash val="solid"/>
          </a:ln>
        </p:spPr>
      </p:sp>
      <p:sp>
        <p:nvSpPr>
          <p:cNvPr id="10" name="circulo-7"/>
          <p:cNvSpPr/>
          <p:nvPr/>
        </p:nvSpPr>
        <p:spPr>
          <a:xfrm>
            <a:off x="2615184" y="1645920"/>
            <a:ext cx="548640" cy="548640"/>
          </a:xfrm>
          <a:prstGeom prst="ellipse">
            <a:avLst/>
          </a:prstGeom>
          <a:solidFill>
            <a:schemeClr val="accent1"/>
          </a:solidFill>
          <a:ln w="12700">
            <a:solidFill>
              <a:schemeClr val="accent1"/>
            </a:solidFill>
            <a:prstDash val="solid"/>
          </a:ln>
        </p:spPr>
      </p:sp>
      <p:sp>
        <p:nvSpPr>
          <p:cNvPr id="11" name="n-8"/>
          <p:cNvSpPr txBox="1"/>
          <p:nvPr/>
        </p:nvSpPr>
        <p:spPr>
          <a:xfrm>
            <a:off x="2615184" y="16459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t-9"/>
          <p:cNvSpPr txBox="1"/>
          <p:nvPr/>
        </p:nvSpPr>
        <p:spPr>
          <a:xfrm>
            <a:off x="2240280" y="2286000"/>
            <a:ext cx="1298448" cy="457200"/>
          </a:xfrm>
          <a:prstGeom prst="rect">
            <a:avLst/>
          </a:prstGeom>
          <a:noFill/>
          <a:ln/>
        </p:spPr>
        <p:txBody>
          <a:bodyPr wrap="square" lIns="0" tIns="0" rIns="0" bIns="0" rtlCol="0" anchor="ctr"/>
          <a:lstStyle/>
          <a:p>
            <a:pPr marL="0" indent="0" algn="ctr">
              <a:buNone/>
            </a:pPr>
            <a:r>
              <a:rPr lang="en-US" sz="1500" b="1" dirty="0">
                <a:solidFill>
                  <a:schemeClr val="tx2"/>
                </a:solidFill>
              </a:rPr>
              <a:t>Pieper</a:t>
            </a:r>
            <a:endParaRPr lang="en-US" sz="1500" dirty="0"/>
          </a:p>
        </p:txBody>
      </p:sp>
      <p:sp>
        <p:nvSpPr>
          <p:cNvPr id="13" name="d-10"/>
          <p:cNvSpPr txBox="1"/>
          <p:nvPr/>
        </p:nvSpPr>
        <p:spPr>
          <a:xfrm>
            <a:off x="2258568" y="2788920"/>
            <a:ext cx="1261872" cy="1234440"/>
          </a:xfrm>
          <a:prstGeom prst="rect">
            <a:avLst/>
          </a:prstGeom>
          <a:noFill/>
          <a:ln/>
        </p:spPr>
        <p:txBody>
          <a:bodyPr wrap="square" lIns="0" tIns="0" rIns="0" bIns="0" rtlCol="0" anchor="t"/>
          <a:lstStyle/>
          <a:p>
            <a:pPr marL="0" indent="0" algn="ctr">
              <a:buNone/>
            </a:pPr>
            <a:r>
              <a:rPr lang="en-US" sz="1300" dirty="0">
                <a:solidFill>
                  <a:schemeClr val="tx1"/>
                </a:solidFill>
              </a:rPr>
              <a:t>p_W + ley de cosenos + ZYZ → 8 ramas</a:t>
            </a:r>
            <a:endParaRPr lang="en-US" sz="1300" dirty="0"/>
          </a:p>
        </p:txBody>
      </p:sp>
      <p:sp>
        <p:nvSpPr>
          <p:cNvPr id="14" name="paso-11"/>
          <p:cNvSpPr/>
          <p:nvPr/>
        </p:nvSpPr>
        <p:spPr>
          <a:xfrm>
            <a:off x="3749040" y="1463040"/>
            <a:ext cx="1481328" cy="2651760"/>
          </a:xfrm>
          <a:prstGeom prst="roundRect">
            <a:avLst>
              <a:gd name="adj" fmla="val 4938"/>
            </a:avLst>
          </a:prstGeom>
          <a:solidFill>
            <a:schemeClr val="accent5"/>
          </a:solidFill>
          <a:ln w="12700">
            <a:solidFill>
              <a:schemeClr val="accent5"/>
            </a:solidFill>
            <a:prstDash val="solid"/>
          </a:ln>
        </p:spPr>
      </p:sp>
      <p:sp>
        <p:nvSpPr>
          <p:cNvPr id="15" name="circulo-12"/>
          <p:cNvSpPr/>
          <p:nvPr/>
        </p:nvSpPr>
        <p:spPr>
          <a:xfrm>
            <a:off x="4215384" y="1645920"/>
            <a:ext cx="548640" cy="548640"/>
          </a:xfrm>
          <a:prstGeom prst="ellipse">
            <a:avLst/>
          </a:prstGeom>
          <a:solidFill>
            <a:schemeClr val="accent1"/>
          </a:solidFill>
          <a:ln w="12700">
            <a:solidFill>
              <a:schemeClr val="accent1"/>
            </a:solidFill>
            <a:prstDash val="solid"/>
          </a:ln>
        </p:spPr>
      </p:sp>
      <p:sp>
        <p:nvSpPr>
          <p:cNvPr id="16" name="n-13"/>
          <p:cNvSpPr txBox="1"/>
          <p:nvPr/>
        </p:nvSpPr>
        <p:spPr>
          <a:xfrm>
            <a:off x="4215384" y="16459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7" name="t-14"/>
          <p:cNvSpPr txBox="1"/>
          <p:nvPr/>
        </p:nvSpPr>
        <p:spPr>
          <a:xfrm>
            <a:off x="3840480" y="2286000"/>
            <a:ext cx="1298448" cy="457200"/>
          </a:xfrm>
          <a:prstGeom prst="rect">
            <a:avLst/>
          </a:prstGeom>
          <a:noFill/>
          <a:ln/>
        </p:spPr>
        <p:txBody>
          <a:bodyPr wrap="square" lIns="0" tIns="0" rIns="0" bIns="0" rtlCol="0" anchor="ctr"/>
          <a:lstStyle/>
          <a:p>
            <a:pPr marL="0" indent="0" algn="ctr">
              <a:buNone/>
            </a:pPr>
            <a:r>
              <a:rPr lang="en-US" sz="1500" b="1" dirty="0">
                <a:solidFill>
                  <a:schemeClr val="tx2"/>
                </a:solidFill>
              </a:rPr>
              <a:t>Validación FK</a:t>
            </a:r>
            <a:endParaRPr lang="en-US" sz="1500" dirty="0"/>
          </a:p>
        </p:txBody>
      </p:sp>
      <p:sp>
        <p:nvSpPr>
          <p:cNvPr id="18" name="d-15"/>
          <p:cNvSpPr txBox="1"/>
          <p:nvPr/>
        </p:nvSpPr>
        <p:spPr>
          <a:xfrm>
            <a:off x="3858768" y="2788920"/>
            <a:ext cx="1261872" cy="1234440"/>
          </a:xfrm>
          <a:prstGeom prst="rect">
            <a:avLst/>
          </a:prstGeom>
          <a:noFill/>
          <a:ln/>
        </p:spPr>
        <p:txBody>
          <a:bodyPr wrap="square" lIns="0" tIns="0" rIns="0" bIns="0" rtlCol="0" anchor="t"/>
          <a:lstStyle/>
          <a:p>
            <a:pPr marL="0" indent="0" algn="ctr">
              <a:buNone/>
            </a:pPr>
            <a:r>
              <a:rPr lang="en-US" sz="1300" dirty="0">
                <a:solidFill>
                  <a:schemeClr val="tx1"/>
                </a:solidFill>
              </a:rPr>
              <a:t>8/8 ramas con error ≤ 10⁻¹⁵</a:t>
            </a:r>
            <a:endParaRPr lang="en-US" sz="1300" dirty="0"/>
          </a:p>
        </p:txBody>
      </p:sp>
      <p:sp>
        <p:nvSpPr>
          <p:cNvPr id="19" name="paso-16"/>
          <p:cNvSpPr/>
          <p:nvPr/>
        </p:nvSpPr>
        <p:spPr>
          <a:xfrm>
            <a:off x="5349240" y="1463040"/>
            <a:ext cx="1481328" cy="2651760"/>
          </a:xfrm>
          <a:prstGeom prst="roundRect">
            <a:avLst>
              <a:gd name="adj" fmla="val 4938"/>
            </a:avLst>
          </a:prstGeom>
          <a:solidFill>
            <a:schemeClr val="bg2"/>
          </a:solidFill>
          <a:ln w="12700">
            <a:solidFill>
              <a:schemeClr val="bg2"/>
            </a:solidFill>
            <a:prstDash val="solid"/>
          </a:ln>
        </p:spPr>
      </p:sp>
      <p:sp>
        <p:nvSpPr>
          <p:cNvPr id="20" name="circulo-17"/>
          <p:cNvSpPr/>
          <p:nvPr/>
        </p:nvSpPr>
        <p:spPr>
          <a:xfrm>
            <a:off x="5815584" y="1645920"/>
            <a:ext cx="548640" cy="548640"/>
          </a:xfrm>
          <a:prstGeom prst="ellipse">
            <a:avLst/>
          </a:prstGeom>
          <a:solidFill>
            <a:schemeClr val="accent1"/>
          </a:solidFill>
          <a:ln w="12700">
            <a:solidFill>
              <a:schemeClr val="accent1"/>
            </a:solidFill>
            <a:prstDash val="solid"/>
          </a:ln>
        </p:spPr>
      </p:sp>
      <p:sp>
        <p:nvSpPr>
          <p:cNvPr id="21" name="n-18"/>
          <p:cNvSpPr txBox="1"/>
          <p:nvPr/>
        </p:nvSpPr>
        <p:spPr>
          <a:xfrm>
            <a:off x="5815584" y="16459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2" name="t-19"/>
          <p:cNvSpPr txBox="1"/>
          <p:nvPr/>
        </p:nvSpPr>
        <p:spPr>
          <a:xfrm>
            <a:off x="5440680" y="2286000"/>
            <a:ext cx="1298448" cy="457200"/>
          </a:xfrm>
          <a:prstGeom prst="rect">
            <a:avLst/>
          </a:prstGeom>
          <a:noFill/>
          <a:ln/>
        </p:spPr>
        <p:txBody>
          <a:bodyPr wrap="square" lIns="0" tIns="0" rIns="0" bIns="0" rtlCol="0" anchor="ctr"/>
          <a:lstStyle/>
          <a:p>
            <a:pPr marL="0" indent="0" algn="ctr">
              <a:buNone/>
            </a:pPr>
            <a:r>
              <a:rPr lang="en-US" sz="1500" b="1" dirty="0">
                <a:solidFill>
                  <a:schemeClr val="tx2"/>
                </a:solidFill>
              </a:rPr>
              <a:t>Selección q_f</a:t>
            </a:r>
            <a:endParaRPr lang="en-US" sz="1500" dirty="0"/>
          </a:p>
        </p:txBody>
      </p:sp>
      <p:sp>
        <p:nvSpPr>
          <p:cNvPr id="23" name="d-20"/>
          <p:cNvSpPr txBox="1"/>
          <p:nvPr/>
        </p:nvSpPr>
        <p:spPr>
          <a:xfrm>
            <a:off x="5458968" y="2788920"/>
            <a:ext cx="1261872" cy="1234440"/>
          </a:xfrm>
          <a:prstGeom prst="rect">
            <a:avLst/>
          </a:prstGeom>
          <a:noFill/>
          <a:ln/>
        </p:spPr>
        <p:txBody>
          <a:bodyPr wrap="square" lIns="0" tIns="0" rIns="0" bIns="0" rtlCol="0" anchor="t"/>
          <a:lstStyle/>
          <a:p>
            <a:pPr marL="0" indent="0" algn="ctr">
              <a:buNone/>
            </a:pPr>
            <a:r>
              <a:rPr lang="en-US" sz="1300" dirty="0">
                <a:solidFill>
                  <a:schemeClr val="tx1"/>
                </a:solidFill>
              </a:rPr>
              <a:t>solo la rama 1 respeta los límites</a:t>
            </a:r>
            <a:endParaRPr lang="en-US" sz="1300" dirty="0"/>
          </a:p>
        </p:txBody>
      </p:sp>
      <p:sp>
        <p:nvSpPr>
          <p:cNvPr id="24" name="paso-21"/>
          <p:cNvSpPr/>
          <p:nvPr/>
        </p:nvSpPr>
        <p:spPr>
          <a:xfrm>
            <a:off x="6949440" y="1463040"/>
            <a:ext cx="1481328" cy="2651760"/>
          </a:xfrm>
          <a:prstGeom prst="roundRect">
            <a:avLst>
              <a:gd name="adj" fmla="val 4938"/>
            </a:avLst>
          </a:prstGeom>
          <a:solidFill>
            <a:schemeClr val="accent5"/>
          </a:solidFill>
          <a:ln w="12700">
            <a:solidFill>
              <a:schemeClr val="accent5"/>
            </a:solidFill>
            <a:prstDash val="solid"/>
          </a:ln>
        </p:spPr>
      </p:sp>
      <p:sp>
        <p:nvSpPr>
          <p:cNvPr id="25" name="circulo-22"/>
          <p:cNvSpPr/>
          <p:nvPr/>
        </p:nvSpPr>
        <p:spPr>
          <a:xfrm>
            <a:off x="7415784" y="1645920"/>
            <a:ext cx="548640" cy="548640"/>
          </a:xfrm>
          <a:prstGeom prst="ellipse">
            <a:avLst/>
          </a:prstGeom>
          <a:solidFill>
            <a:schemeClr val="accent1"/>
          </a:solidFill>
          <a:ln w="12700">
            <a:solidFill>
              <a:schemeClr val="accent1"/>
            </a:solidFill>
            <a:prstDash val="solid"/>
          </a:ln>
        </p:spPr>
      </p:sp>
      <p:sp>
        <p:nvSpPr>
          <p:cNvPr id="26" name="n-23"/>
          <p:cNvSpPr txBox="1"/>
          <p:nvPr/>
        </p:nvSpPr>
        <p:spPr>
          <a:xfrm>
            <a:off x="7415784" y="16459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7" name="t-24"/>
          <p:cNvSpPr txBox="1"/>
          <p:nvPr/>
        </p:nvSpPr>
        <p:spPr>
          <a:xfrm>
            <a:off x="7040880" y="2286000"/>
            <a:ext cx="1298448" cy="457200"/>
          </a:xfrm>
          <a:prstGeom prst="rect">
            <a:avLst/>
          </a:prstGeom>
          <a:noFill/>
          <a:ln/>
        </p:spPr>
        <p:txBody>
          <a:bodyPr wrap="square" lIns="0" tIns="0" rIns="0" bIns="0" rtlCol="0" anchor="ctr"/>
          <a:lstStyle/>
          <a:p>
            <a:pPr marL="0" indent="0" algn="ctr">
              <a:buNone/>
            </a:pPr>
            <a:r>
              <a:rPr lang="en-US" sz="1500" b="1" dirty="0">
                <a:solidFill>
                  <a:schemeClr val="tx2"/>
                </a:solidFill>
              </a:rPr>
              <a:t>LSPB</a:t>
            </a:r>
            <a:endParaRPr lang="en-US" sz="1500" dirty="0"/>
          </a:p>
        </p:txBody>
      </p:sp>
      <p:sp>
        <p:nvSpPr>
          <p:cNvPr id="28" name="d-25"/>
          <p:cNvSpPr txBox="1"/>
          <p:nvPr/>
        </p:nvSpPr>
        <p:spPr>
          <a:xfrm>
            <a:off x="7059168" y="2788920"/>
            <a:ext cx="1261872" cy="1234440"/>
          </a:xfrm>
          <a:prstGeom prst="rect">
            <a:avLst/>
          </a:prstGeom>
          <a:noFill/>
          <a:ln/>
        </p:spPr>
        <p:txBody>
          <a:bodyPr wrap="square" lIns="0" tIns="0" rIns="0" bIns="0" rtlCol="0" anchor="t"/>
          <a:lstStyle/>
          <a:p>
            <a:pPr marL="0" indent="0" algn="ctr">
              <a:buNone/>
            </a:pPr>
            <a:r>
              <a:rPr lang="en-US" sz="1300" dirty="0">
                <a:solidFill>
                  <a:schemeClr val="tx1"/>
                </a:solidFill>
              </a:rPr>
              <a:t>t_f = 1.76 s, t_c = 0.249 s</a:t>
            </a:r>
            <a:endParaRPr lang="en-US" sz="1300" dirty="0"/>
          </a:p>
        </p:txBody>
      </p:sp>
      <p:sp>
        <p:nvSpPr>
          <p:cNvPr id="29" name="paso-26"/>
          <p:cNvSpPr/>
          <p:nvPr/>
        </p:nvSpPr>
        <p:spPr>
          <a:xfrm>
            <a:off x="8549640" y="1463040"/>
            <a:ext cx="1481328" cy="2651760"/>
          </a:xfrm>
          <a:prstGeom prst="roundRect">
            <a:avLst>
              <a:gd name="adj" fmla="val 4938"/>
            </a:avLst>
          </a:prstGeom>
          <a:solidFill>
            <a:schemeClr val="bg2"/>
          </a:solidFill>
          <a:ln w="12700">
            <a:solidFill>
              <a:schemeClr val="bg2"/>
            </a:solidFill>
            <a:prstDash val="solid"/>
          </a:ln>
        </p:spPr>
      </p:sp>
      <p:sp>
        <p:nvSpPr>
          <p:cNvPr id="30" name="circulo-27"/>
          <p:cNvSpPr/>
          <p:nvPr/>
        </p:nvSpPr>
        <p:spPr>
          <a:xfrm>
            <a:off x="9015984" y="1645920"/>
            <a:ext cx="548640" cy="548640"/>
          </a:xfrm>
          <a:prstGeom prst="ellipse">
            <a:avLst/>
          </a:prstGeom>
          <a:solidFill>
            <a:schemeClr val="accent1"/>
          </a:solidFill>
          <a:ln w="12700">
            <a:solidFill>
              <a:schemeClr val="accent1"/>
            </a:solidFill>
            <a:prstDash val="solid"/>
          </a:ln>
        </p:spPr>
      </p:sp>
      <p:sp>
        <p:nvSpPr>
          <p:cNvPr id="31" name="n-28"/>
          <p:cNvSpPr txBox="1"/>
          <p:nvPr/>
        </p:nvSpPr>
        <p:spPr>
          <a:xfrm>
            <a:off x="9015984" y="16459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6</a:t>
            </a:r>
            <a:endParaRPr lang="en-US" sz="1800" dirty="0"/>
          </a:p>
        </p:txBody>
      </p:sp>
      <p:sp>
        <p:nvSpPr>
          <p:cNvPr id="32" name="t-29"/>
          <p:cNvSpPr txBox="1"/>
          <p:nvPr/>
        </p:nvSpPr>
        <p:spPr>
          <a:xfrm>
            <a:off x="8641080" y="2286000"/>
            <a:ext cx="1298448" cy="457200"/>
          </a:xfrm>
          <a:prstGeom prst="rect">
            <a:avLst/>
          </a:prstGeom>
          <a:noFill/>
          <a:ln/>
        </p:spPr>
        <p:txBody>
          <a:bodyPr wrap="square" lIns="0" tIns="0" rIns="0" bIns="0" rtlCol="0" anchor="ctr"/>
          <a:lstStyle/>
          <a:p>
            <a:pPr marL="0" indent="0" algn="ctr">
              <a:buNone/>
            </a:pPr>
            <a:r>
              <a:rPr lang="en-US" sz="1500" b="1" dirty="0">
                <a:solidFill>
                  <a:schemeClr val="tx2"/>
                </a:solidFill>
              </a:rPr>
              <a:t>Jacobiano</a:t>
            </a:r>
            <a:endParaRPr lang="en-US" sz="1500" dirty="0"/>
          </a:p>
        </p:txBody>
      </p:sp>
      <p:sp>
        <p:nvSpPr>
          <p:cNvPr id="33" name="d-30"/>
          <p:cNvSpPr txBox="1"/>
          <p:nvPr/>
        </p:nvSpPr>
        <p:spPr>
          <a:xfrm>
            <a:off x="8659368" y="2788920"/>
            <a:ext cx="1261872" cy="1234440"/>
          </a:xfrm>
          <a:prstGeom prst="rect">
            <a:avLst/>
          </a:prstGeom>
          <a:noFill/>
          <a:ln/>
        </p:spPr>
        <p:txBody>
          <a:bodyPr wrap="square" lIns="0" tIns="0" rIns="0" bIns="0" rtlCol="0" anchor="t"/>
          <a:lstStyle/>
          <a:p>
            <a:pPr marL="0" indent="0" algn="ctr">
              <a:buNone/>
            </a:pPr>
            <a:r>
              <a:rPr lang="en-US" sz="1300" dirty="0">
                <a:solidFill>
                  <a:schemeClr val="tx1"/>
                </a:solidFill>
              </a:rPr>
              <a:t>rango 6 → 5 en q5 = 0; |q̇| ∝ 1/σ₆</a:t>
            </a:r>
            <a:endParaRPr lang="en-US" sz="1300" dirty="0"/>
          </a:p>
        </p:txBody>
      </p:sp>
      <p:sp>
        <p:nvSpPr>
          <p:cNvPr id="34" name="paso-31"/>
          <p:cNvSpPr/>
          <p:nvPr/>
        </p:nvSpPr>
        <p:spPr>
          <a:xfrm>
            <a:off x="10149840" y="1463040"/>
            <a:ext cx="1481328" cy="2651760"/>
          </a:xfrm>
          <a:prstGeom prst="roundRect">
            <a:avLst>
              <a:gd name="adj" fmla="val 4938"/>
            </a:avLst>
          </a:prstGeom>
          <a:solidFill>
            <a:schemeClr val="accent5"/>
          </a:solidFill>
          <a:ln w="12700">
            <a:solidFill>
              <a:schemeClr val="accent5"/>
            </a:solidFill>
            <a:prstDash val="solid"/>
          </a:ln>
        </p:spPr>
      </p:sp>
      <p:sp>
        <p:nvSpPr>
          <p:cNvPr id="35" name="circulo-32"/>
          <p:cNvSpPr/>
          <p:nvPr/>
        </p:nvSpPr>
        <p:spPr>
          <a:xfrm>
            <a:off x="10616184" y="1645920"/>
            <a:ext cx="548640" cy="548640"/>
          </a:xfrm>
          <a:prstGeom prst="ellipse">
            <a:avLst/>
          </a:prstGeom>
          <a:solidFill>
            <a:schemeClr val="accent1"/>
          </a:solidFill>
          <a:ln w="12700">
            <a:solidFill>
              <a:schemeClr val="accent1"/>
            </a:solidFill>
            <a:prstDash val="solid"/>
          </a:ln>
        </p:spPr>
      </p:sp>
      <p:sp>
        <p:nvSpPr>
          <p:cNvPr id="36" name="n-33"/>
          <p:cNvSpPr txBox="1"/>
          <p:nvPr/>
        </p:nvSpPr>
        <p:spPr>
          <a:xfrm>
            <a:off x="10616184" y="164592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7</a:t>
            </a:r>
            <a:endParaRPr lang="en-US" sz="1800" dirty="0"/>
          </a:p>
        </p:txBody>
      </p:sp>
      <p:sp>
        <p:nvSpPr>
          <p:cNvPr id="37" name="t-34"/>
          <p:cNvSpPr txBox="1"/>
          <p:nvPr/>
        </p:nvSpPr>
        <p:spPr>
          <a:xfrm>
            <a:off x="10241280" y="2286000"/>
            <a:ext cx="1298448" cy="457200"/>
          </a:xfrm>
          <a:prstGeom prst="rect">
            <a:avLst/>
          </a:prstGeom>
          <a:noFill/>
          <a:ln/>
        </p:spPr>
        <p:txBody>
          <a:bodyPr wrap="square" lIns="0" tIns="0" rIns="0" bIns="0" rtlCol="0" anchor="ctr"/>
          <a:lstStyle/>
          <a:p>
            <a:pPr marL="0" indent="0" algn="ctr">
              <a:buNone/>
            </a:pPr>
            <a:r>
              <a:rPr lang="en-US" sz="1500" b="1" dirty="0">
                <a:solidFill>
                  <a:schemeClr val="tx2"/>
                </a:solidFill>
              </a:rPr>
              <a:t>Dinámica 1R</a:t>
            </a:r>
            <a:endParaRPr lang="en-US" sz="1500" dirty="0"/>
          </a:p>
        </p:txBody>
      </p:sp>
      <p:sp>
        <p:nvSpPr>
          <p:cNvPr id="38" name="d-35"/>
          <p:cNvSpPr txBox="1"/>
          <p:nvPr/>
        </p:nvSpPr>
        <p:spPr>
          <a:xfrm>
            <a:off x="10259568" y="2788920"/>
            <a:ext cx="1261872" cy="1234440"/>
          </a:xfrm>
          <a:prstGeom prst="rect">
            <a:avLst/>
          </a:prstGeom>
          <a:noFill/>
          <a:ln/>
        </p:spPr>
        <p:txBody>
          <a:bodyPr wrap="square" lIns="0" tIns="0" rIns="0" bIns="0" rtlCol="0" anchor="t"/>
          <a:lstStyle/>
          <a:p>
            <a:pPr marL="0" indent="0" algn="ctr">
              <a:buNone/>
            </a:pPr>
            <a:r>
              <a:rPr lang="en-US" sz="1300" dirty="0">
                <a:solidFill>
                  <a:schemeClr val="tx1"/>
                </a:solidFill>
              </a:rPr>
              <a:t>pico |τ| = 1.52 N·m sin aceleración</a:t>
            </a:r>
            <a:endParaRPr lang="en-US" sz="1300" dirty="0"/>
          </a:p>
        </p:txBody>
      </p:sp>
      <p:sp>
        <p:nvSpPr>
          <p:cNvPr id="39" name="resultado-36"/>
          <p:cNvSpPr/>
          <p:nvPr/>
        </p:nvSpPr>
        <p:spPr>
          <a:xfrm>
            <a:off x="548640" y="4434840"/>
            <a:ext cx="11091672" cy="1645920"/>
          </a:xfrm>
          <a:prstGeom prst="roundRect">
            <a:avLst>
              <a:gd name="adj" fmla="val 4444"/>
            </a:avLst>
          </a:prstGeom>
          <a:solidFill>
            <a:schemeClr val="bg1"/>
          </a:solidFill>
          <a:ln w="12700">
            <a:solidFill>
              <a:schemeClr val="accent3"/>
            </a:solidFill>
            <a:prstDash val="solid"/>
          </a:ln>
        </p:spPr>
      </p:sp>
      <p:sp>
        <p:nvSpPr>
          <p:cNvPr id="40" name="texto-resultado-37"/>
          <p:cNvSpPr txBox="1"/>
          <p:nvPr/>
        </p:nvSpPr>
        <p:spPr>
          <a:xfrm>
            <a:off x="777240" y="4526280"/>
            <a:ext cx="10607040" cy="1463040"/>
          </a:xfrm>
          <a:prstGeom prst="rect">
            <a:avLst/>
          </a:prstGeom>
          <a:noFill/>
          <a:ln/>
        </p:spPr>
        <p:txBody>
          <a:bodyPr wrap="square" lIns="0" tIns="0" rIns="0" bIns="0" rtlCol="0" anchor="ctr"/>
          <a:lstStyle/>
          <a:p>
            <a:pPr marL="0" indent="0">
              <a:buNone/>
            </a:pPr>
            <a:r>
              <a:rPr lang="en-US" sz="1600" b="1" dirty="0">
                <a:solidFill>
                  <a:schemeClr val="tx2"/>
                </a:solidFill>
              </a:rPr>
              <a:t>Resultado: </a:t>
            </a:r>
            <a:r>
              <a:rPr lang="en-US" sz="1600" dirty="0">
                <a:solidFill>
                  <a:schemeClr val="tx1"/>
                </a:solidFill>
              </a:rPr>
              <a:t>q_f = (−21.80°, 9.63°, 47.13°, 0°, 33.24°, 158.20°), rama frente-codo arriba-q5+. Todo lo que hace el código sale de las diapositivas W07–W09 o de los textos guía del sílabo; </a:t>
            </a:r>
            <a:r>
              <a:rPr lang="en-US" sz="1600" b="1" dirty="0">
                <a:solidFill>
                  <a:schemeClr val="accent1"/>
                </a:solidFill>
              </a:rPr>
              <a:t>lo que eligió el grupo (herramienta 0.150 m, tolerancias, puntaje, 25 % de velocidad, masa 1 kg…) está marcado en naranja.</a:t>
            </a:r>
            <a:endParaRPr lang="en-US" sz="1600" dirty="0"/>
          </a:p>
        </p:txBody>
      </p:sp>
      <p:sp>
        <p:nvSpPr>
          <p:cNvPr id="3"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Las fuentes: diapositivas de clase primero, textos guía después</a:t>
            </a:r>
            <a:endParaRPr lang="en-US" sz="3000" dirty="0"/>
          </a:p>
        </p:txBody>
      </p:sp>
      <p:graphicFrame>
        <p:nvGraphicFramePr>
          <p:cNvPr id="4" name="tabla-38"/>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4255008"/>
        </p:xfrm>
        <a:graphic>
          <a:graphicData uri="http://schemas.openxmlformats.org/drawingml/2006/table">
            <a:tbl>
              <a:tblPr/>
              <a:tblGrid>
                <a:gridCol w="14630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5056632">
                  <a:extLst>
                    <a:ext uri="{9D8B030D-6E8A-4147-A177-3AD203B41FA5}">
                      <a16:colId xmlns:a16="http://schemas.microsoft.com/office/drawing/2014/main" val="20002"/>
                    </a:ext>
                  </a:extLst>
                </a:gridCol>
              </a:tblGrid>
              <a:tr h="420624">
                <a:tc>
                  <a:txBody>
                    <a:bodyPr/>
                    <a:lstStyle/>
                    <a:p>
                      <a:pPr marL="0" indent="0">
                        <a:buNone/>
                      </a:pPr>
                      <a:r>
                        <a:rPr lang="en-US" sz="1300" b="1" dirty="0">
                          <a:solidFill>
                            <a:schemeClr val="bg1"/>
                          </a:solidFill>
                        </a:rPr>
                        <a:t>Clave</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Fuente</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Archivo en bibliografia</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20624">
                <a:tc>
                  <a:txBody>
                    <a:bodyPr/>
                    <a:lstStyle/>
                    <a:p>
                      <a:pPr marL="0" indent="0">
                        <a:buNone/>
                      </a:pPr>
                      <a:r>
                        <a:rPr lang="en-US" sz="1300" dirty="0">
                          <a:solidFill>
                            <a:schemeClr val="tx1"/>
                          </a:solidFill>
                        </a:rPr>
                        <a:t>W07</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Cinemática inversa: multiplicidad y desacoplamiento (12 diap.)</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Semana_7/w07_s02_slides.pdf</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20624">
                <a:tc>
                  <a:txBody>
                    <a:bodyPr/>
                    <a:lstStyle/>
                    <a:p>
                      <a:pPr marL="0" indent="0">
                        <a:buNone/>
                      </a:pPr>
                      <a:r>
                        <a:rPr lang="en-US" sz="1300" dirty="0">
                          <a:solidFill>
                            <a:schemeClr val="tx1"/>
                          </a:solidFill>
                        </a:rPr>
                        <a:t>HR · AP</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Hoja de ruta de Pieper · apuntes Pieper y roadmap</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Semana_7/w07_s02_pieper_roadmap.pdf · pieper.pdf · roadmap.pdf</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20624">
                <a:tc>
                  <a:txBody>
                    <a:bodyPr/>
                    <a:lstStyle/>
                    <a:p>
                      <a:pPr marL="0" indent="0">
                        <a:buNone/>
                      </a:pPr>
                      <a:r>
                        <a:rPr lang="en-US" sz="1300" dirty="0">
                          <a:solidFill>
                            <a:schemeClr val="tx1"/>
                          </a:solidFill>
                        </a:rPr>
                        <a:t>W08a · W08b</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Jacobiano geométrico · consolidación y singularidades</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Semana_8/w08_s01_slides.pdf · w08_s02_slides.pdf</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20624">
                <a:tc>
                  <a:txBody>
                    <a:bodyPr/>
                    <a:lstStyle/>
                    <a:p>
                      <a:pPr marL="0" indent="0">
                        <a:buNone/>
                      </a:pPr>
                      <a:r>
                        <a:rPr lang="en-US" sz="1300" dirty="0">
                          <a:solidFill>
                            <a:schemeClr val="tx1"/>
                          </a:solidFill>
                        </a:rPr>
                        <a:t>RS · PJ</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Referencia visual de rango · scripts Python del Jacobiano</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Semana_8/w08_s02_referencia_singularidades.pdf · prácticas Python</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20624">
                <a:tc>
                  <a:txBody>
                    <a:bodyPr/>
                    <a:lstStyle/>
                    <a:p>
                      <a:pPr marL="0" indent="0">
                        <a:buNone/>
                      </a:pPr>
                      <a:r>
                        <a:rPr lang="en-US" sz="1300" dirty="0">
                          <a:solidFill>
                            <a:schemeClr val="tx1"/>
                          </a:solidFill>
                        </a:rPr>
                        <a:t>W09a · LH</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Singularidades y LSPB (11 diap.) · hoja de trabajo LSPB</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Semana_9/w09_s01_slides.pdf · w09_s01_lspb_hoja_trabajo.pdf</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20624">
                <a:tc>
                  <a:txBody>
                    <a:bodyPr/>
                    <a:lstStyle/>
                    <a:p>
                      <a:pPr marL="0" indent="0">
                        <a:buNone/>
                      </a:pPr>
                      <a:r>
                        <a:rPr lang="en-US" sz="1300" dirty="0">
                          <a:solidFill>
                            <a:schemeClr val="tx1"/>
                          </a:solidFill>
                        </a:rPr>
                        <a:t>W09b · HD · TP</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Dinámica esencial (10 diap.) · handoff · código torque 1R</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Semana_9/w09_s02_slides.pdf · w09_s01_handoff_dinamica.pdf · w09_s02_torque_python.pdf</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420624">
                <a:tc>
                  <a:txBody>
                    <a:bodyPr/>
                    <a:lstStyle/>
                    <a:p>
                      <a:pPr marL="0" indent="0">
                        <a:buNone/>
                      </a:pPr>
                      <a:r>
                        <a:rPr lang="en-US" sz="1300" dirty="0">
                          <a:solidFill>
                            <a:schemeClr val="tx1"/>
                          </a:solidFill>
                        </a:rPr>
                        <a:t>G2</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Guía oficial y rúbrica del Hito 2</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Guia/hito_2_guia (1).pdf</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20624">
                <a:tc>
                  <a:txBody>
                    <a:bodyPr/>
                    <a:lstStyle/>
                    <a:p>
                      <a:pPr marL="0" indent="0">
                        <a:buNone/>
                      </a:pPr>
                      <a:r>
                        <a:rPr lang="en-US" sz="1300" dirty="0">
                          <a:solidFill>
                            <a:schemeClr val="tx1"/>
                          </a:solidFill>
                        </a:rPr>
                        <a:t>S · C · SP</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Siciliano · Craig · Spong (textos del sílabo)</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no están en la carpeta</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r h="420624">
                <a:tc>
                  <a:txBody>
                    <a:bodyPr/>
                    <a:lstStyle/>
                    <a:p>
                      <a:pPr marL="0" indent="0">
                        <a:buNone/>
                      </a:pPr>
                      <a:r>
                        <a:rPr lang="en-US" sz="1300" dirty="0">
                          <a:solidFill>
                            <a:schemeClr val="tx1"/>
                          </a:solidFill>
                        </a:rPr>
                        <a:t>B23 · ABB</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Bahani et al. 2023, Tabla I · Product specification IRB 120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citados en irb120_modelo.py</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9"/>
                  </a:ext>
                </a:extLst>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insignia-39"/>
          <p:cNvSpPr/>
          <p:nvPr/>
        </p:nvSpPr>
        <p:spPr>
          <a:xfrm>
            <a:off x="822960" y="2331720"/>
            <a:ext cx="1234440" cy="1234440"/>
          </a:xfrm>
          <a:prstGeom prst="ellipse">
            <a:avLst/>
          </a:prstGeom>
          <a:solidFill>
            <a:schemeClr val="accent1"/>
          </a:solidFill>
          <a:ln w="12700">
            <a:solidFill>
              <a:schemeClr val="accent1"/>
            </a:solidFill>
            <a:prstDash val="solid"/>
          </a:ln>
        </p:spPr>
      </p:sp>
      <p:sp>
        <p:nvSpPr>
          <p:cNvPr id="3" name="numero-40"/>
          <p:cNvSpPr txBox="1"/>
          <p:nvPr/>
        </p:nvSpPr>
        <p:spPr>
          <a:xfrm>
            <a:off x="822960" y="2331720"/>
            <a:ext cx="1234440" cy="1234440"/>
          </a:xfrm>
          <a:prstGeom prst="rect">
            <a:avLst/>
          </a:prstGeom>
          <a:noFill/>
          <a:ln/>
        </p:spPr>
        <p:txBody>
          <a:bodyPr wrap="square" lIns="0" tIns="0" rIns="0" bIns="0" rtlCol="0" anchor="ctr"/>
          <a:lstStyle/>
          <a:p>
            <a:pPr marL="0" indent="0" algn="ctr">
              <a:buNone/>
            </a:pPr>
            <a:r>
              <a:rPr lang="en-US" sz="4000" b="1" dirty="0">
                <a:solidFill>
                  <a:schemeClr val="bg1"/>
                </a:solidFill>
                <a:latin typeface="Cambria" pitchFamily="34" charset="0"/>
                <a:ea typeface="Cambria" pitchFamily="34" charset="-122"/>
                <a:cs typeface="Cambria" pitchFamily="34" charset="-120"/>
              </a:rPr>
              <a:t>1</a:t>
            </a:r>
            <a:endParaRPr lang="en-US" sz="4000" dirty="0"/>
          </a:p>
        </p:txBody>
      </p:sp>
      <p:sp>
        <p:nvSpPr>
          <p:cNvPr id="4" name="Text 0"/>
          <p:cNvSpPr>
            <a:spLocks noGrp="1"/>
          </p:cNvSpPr>
          <p:nvPr>
            <p:ph type="title" idx="100" hasCustomPrompt="1"/>
          </p:nvPr>
        </p:nvSpPr>
        <p:spPr>
          <a:xfrm>
            <a:off x="2377440" y="2377440"/>
            <a:ext cx="9052560" cy="1097280"/>
          </a:xfrm>
          <a:prstGeom prst="rect">
            <a:avLst/>
          </a:prstGeom>
          <a:noFill/>
          <a:ln/>
        </p:spPr>
        <p:txBody>
          <a:bodyPr wrap="square" rtlCol="0" anchor="ctr"/>
          <a:lstStyle/>
          <a:p>
            <a:pPr marL="0" indent="0" algn="l">
              <a:buNone/>
            </a:pPr>
            <a:r>
              <a:rPr lang="en-US" sz="4000" b="1" dirty="0">
                <a:solidFill>
                  <a:schemeClr val="bg1"/>
                </a:solidFill>
                <a:latin typeface="Cambria" pitchFamily="34" charset="0"/>
                <a:ea typeface="Cambria" pitchFamily="34" charset="-122"/>
                <a:cs typeface="Cambria" pitchFamily="34" charset="-120"/>
              </a:rPr>
              <a:t>Modelo DH y cinemática directa</a:t>
            </a:r>
            <a:endParaRPr lang="en-US" sz="4000" dirty="0"/>
          </a:p>
        </p:txBody>
      </p:sp>
      <p:sp>
        <p:nvSpPr>
          <p:cNvPr id="5" name="Text 0"/>
          <p:cNvSpPr>
            <a:spLocks noGrp="1"/>
          </p:cNvSpPr>
          <p:nvPr>
            <p:ph type="body" idx="101" hasCustomPrompt="1"/>
          </p:nvPr>
        </p:nvSpPr>
        <p:spPr>
          <a:xfrm>
            <a:off x="2377440" y="3474720"/>
            <a:ext cx="9052560" cy="1280160"/>
          </a:xfrm>
          <a:prstGeom prst="rect">
            <a:avLst/>
          </a:prstGeom>
          <a:noFill/>
          <a:ln/>
        </p:spPr>
        <p:txBody>
          <a:bodyPr wrap="square" rtlCol="0" anchor="t"/>
          <a:lstStyle/>
          <a:p>
            <a:pPr marL="0" indent="0">
              <a:buNone/>
            </a:pPr>
            <a:r>
              <a:rPr lang="en-US" sz="1800" dirty="0">
                <a:solidFill>
                  <a:schemeClr val="bg2"/>
                </a:solidFill>
              </a:rPr>
              <a:t>La FK convierte q en la pose del TCP; todo lo demás la reutiliza</a:t>
            </a:r>
            <a:endParaRPr lang="en-US" sz="1800" dirty="0"/>
          </a:p>
          <a:p>
            <a:pPr marL="0" indent="0">
              <a:buNone/>
            </a:pPr>
            <a:r>
              <a:rPr lang="en-US" sz="1800" dirty="0">
                <a:solidFill>
                  <a:schemeClr val="bg2"/>
                </a:solidFill>
              </a:rPr>
              <a:t>irb120_modelo.py · celdas 2–11</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Cada eslabón es una matriz A_i de cuatro movimientos</a:t>
            </a:r>
            <a:endParaRPr lang="en-US" sz="3000" dirty="0"/>
          </a:p>
        </p:txBody>
      </p:sp>
      <p:sp>
        <p:nvSpPr>
          <p:cNvPr id="4" name="caja-ecuaciones-41"/>
          <p:cNvSpPr/>
          <p:nvPr/>
        </p:nvSpPr>
        <p:spPr>
          <a:xfrm>
            <a:off x="548640" y="1280160"/>
            <a:ext cx="6035040" cy="786384"/>
          </a:xfrm>
          <a:prstGeom prst="roundRect">
            <a:avLst>
              <a:gd name="adj" fmla="val 9302"/>
            </a:avLst>
          </a:prstGeom>
          <a:solidFill>
            <a:schemeClr val="bg2"/>
          </a:solidFill>
          <a:ln w="12700">
            <a:solidFill>
              <a:schemeClr val="bg2"/>
            </a:solidFill>
            <a:prstDash val="solid"/>
          </a:ln>
        </p:spPr>
      </p:sp>
      <p:pic>
        <p:nvPicPr>
          <p:cNvPr id="5" name="ecuacion-dh-42" descr="/tmp/claude-0/deck/eq/dh.png"/>
          <p:cNvPicPr>
            <a:picLocks noChangeAspect="1"/>
          </p:cNvPicPr>
          <p:nvPr/>
        </p:nvPicPr>
        <p:blipFill>
          <a:blip r:embed="rId3"/>
          <a:stretch>
            <a:fillRect/>
          </a:stretch>
        </p:blipFill>
        <p:spPr>
          <a:xfrm>
            <a:off x="777240" y="1508760"/>
            <a:ext cx="5100689" cy="329184"/>
          </a:xfrm>
          <a:prstGeom prst="rect">
            <a:avLst/>
          </a:prstGeom>
        </p:spPr>
      </p:pic>
      <p:graphicFrame>
        <p:nvGraphicFramePr>
          <p:cNvPr id="6" name="tabla-43"/>
          <p:cNvGraphicFramePr>
            <a:graphicFrameLocks noGrp="1"/>
          </p:cNvGraphicFramePr>
          <p:nvPr>
            <p:extLst>
              <p:ext uri="{D42A27DB-BD31-4B8C-83A1-F6EECF244321}">
                <p14:modId xmlns:p14="http://schemas.microsoft.com/office/powerpoint/2010/main" val="1579011935"/>
              </p:ext>
            </p:extLst>
          </p:nvPr>
        </p:nvGraphicFramePr>
        <p:xfrm>
          <a:off x="6858000" y="1280160"/>
          <a:ext cx="4782312" cy="2560320"/>
        </p:xfrm>
        <a:graphic>
          <a:graphicData uri="http://schemas.openxmlformats.org/drawingml/2006/table">
            <a:tbl>
              <a:tblPr/>
              <a:tblGrid>
                <a:gridCol w="36576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gridCol w="640080">
                  <a:extLst>
                    <a:ext uri="{9D8B030D-6E8A-4147-A177-3AD203B41FA5}">
                      <a16:colId xmlns:a16="http://schemas.microsoft.com/office/drawing/2014/main" val="20004"/>
                    </a:ext>
                  </a:extLst>
                </a:gridCol>
                <a:gridCol w="1353312">
                  <a:extLst>
                    <a:ext uri="{9D8B030D-6E8A-4147-A177-3AD203B41FA5}">
                      <a16:colId xmlns:a16="http://schemas.microsoft.com/office/drawing/2014/main" val="20005"/>
                    </a:ext>
                  </a:extLst>
                </a:gridCol>
              </a:tblGrid>
              <a:tr h="365760">
                <a:tc>
                  <a:txBody>
                    <a:bodyPr/>
                    <a:lstStyle/>
                    <a:p>
                      <a:pPr marL="0" indent="0">
                        <a:buNone/>
                      </a:pPr>
                      <a:r>
                        <a:rPr lang="en-US" sz="1300" b="1" dirty="0">
                          <a:solidFill>
                            <a:schemeClr val="bg1"/>
                          </a:solidFill>
                        </a:rPr>
                        <a:t>i</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θ_i</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d [m]</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a [m]</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α</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Límite [°]</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65760">
                <a:tc>
                  <a:txBody>
                    <a:bodyPr/>
                    <a:lstStyle/>
                    <a:p>
                      <a:pPr marL="0" indent="0">
                        <a:buNone/>
                      </a:pPr>
                      <a:r>
                        <a:rPr lang="en-US" sz="1300" dirty="0">
                          <a:solidFill>
                            <a:schemeClr val="tx1"/>
                          </a:solidFill>
                        </a:rPr>
                        <a:t>1</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q1</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0.290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−90°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±165</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65760">
                <a:tc>
                  <a:txBody>
                    <a:bodyPr/>
                    <a:lstStyle/>
                    <a:p>
                      <a:pPr marL="0" indent="0">
                        <a:buNone/>
                      </a:pPr>
                      <a:r>
                        <a:rPr lang="en-US" sz="1300" dirty="0">
                          <a:solidFill>
                            <a:schemeClr val="tx1"/>
                          </a:solidFill>
                        </a:rPr>
                        <a:t>2</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q2 − 90°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0.270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±110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65760">
                <a:tc>
                  <a:txBody>
                    <a:bodyPr/>
                    <a:lstStyle/>
                    <a:p>
                      <a:pPr marL="0" indent="0">
                        <a:buNone/>
                      </a:pPr>
                      <a:r>
                        <a:rPr lang="en-US" sz="1300" dirty="0">
                          <a:solidFill>
                            <a:schemeClr val="tx1"/>
                          </a:solidFill>
                        </a:rPr>
                        <a:t>3</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q3</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0.070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−90°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−110 / +70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65760">
                <a:tc>
                  <a:txBody>
                    <a:bodyPr/>
                    <a:lstStyle/>
                    <a:p>
                      <a:pPr marL="0" indent="0">
                        <a:buNone/>
                      </a:pPr>
                      <a:r>
                        <a:rPr lang="en-US" sz="1300" dirty="0">
                          <a:solidFill>
                            <a:schemeClr val="tx1"/>
                          </a:solidFill>
                        </a:rPr>
                        <a:t>4</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q4</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0.302</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+90°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±160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65760">
                <a:tc>
                  <a:txBody>
                    <a:bodyPr/>
                    <a:lstStyle/>
                    <a:p>
                      <a:pPr marL="0" indent="0">
                        <a:buNone/>
                      </a:pPr>
                      <a:r>
                        <a:rPr lang="en-US" sz="1300" dirty="0">
                          <a:solidFill>
                            <a:schemeClr val="tx1"/>
                          </a:solidFill>
                        </a:rPr>
                        <a:t>5</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q5</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−90°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±120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65760">
                <a:tc>
                  <a:txBody>
                    <a:bodyPr/>
                    <a:lstStyle/>
                    <a:p>
                      <a:pPr marL="0" indent="0">
                        <a:buNone/>
                      </a:pPr>
                      <a:r>
                        <a:rPr lang="en-US" sz="1300" dirty="0">
                          <a:solidFill>
                            <a:schemeClr val="tx1"/>
                          </a:solidFill>
                        </a:rPr>
                        <a:t>6</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q6 + 180°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0.072</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±400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7" name="vinetas-44"/>
          <p:cNvSpPr txBox="1"/>
          <p:nvPr/>
        </p:nvSpPr>
        <p:spPr>
          <a:xfrm>
            <a:off x="548640" y="2331720"/>
            <a:ext cx="6035040" cy="2377440"/>
          </a:xfrm>
          <a:prstGeom prst="rect">
            <a:avLst/>
          </a:prstGeom>
          <a:noFill/>
          <a:ln/>
        </p:spPr>
        <p:txBody>
          <a:bodyPr wrap="square" rtlCol="0" anchor="t"/>
          <a:lstStyle/>
          <a:p>
            <a:pPr marL="342900" indent="-342900">
              <a:spcAft>
                <a:spcPts val="600"/>
              </a:spcAft>
              <a:buSzPct val="100000"/>
              <a:buChar char="•"/>
            </a:pPr>
            <a:r>
              <a:rPr lang="en-US" sz="1500" dirty="0">
                <a:solidFill>
                  <a:schemeClr val="tx1"/>
                </a:solidFill>
              </a:rPr>
              <a:t>Rz(θ_i) gira alrededor del eje de la junta z_{i−1}: es lo único que depende de q_i</a:t>
            </a:r>
            <a:endParaRPr lang="en-US" sz="1500" dirty="0"/>
          </a:p>
          <a:p>
            <a:pPr marL="342900" indent="-342900">
              <a:spcAft>
                <a:spcPts val="600"/>
              </a:spcAft>
              <a:buSzPct val="100000"/>
              <a:buChar char="•"/>
            </a:pPr>
            <a:r>
              <a:rPr lang="en-US" sz="1500" dirty="0">
                <a:solidFill>
                  <a:schemeClr val="tx1"/>
                </a:solidFill>
              </a:rPr>
              <a:t>Tz(d_i) y Tx(a_i) son las distancias fijas del eslabón; Rx(α_i) inclina el eje siguiente</a:t>
            </a:r>
            <a:endParaRPr lang="en-US" sz="1500" dirty="0"/>
          </a:p>
          <a:p>
            <a:pPr marL="342900" indent="-342900">
              <a:spcAft>
                <a:spcPts val="600"/>
              </a:spcAft>
              <a:buSzPct val="100000"/>
              <a:buChar char="•"/>
            </a:pPr>
            <a:r>
              <a:rPr lang="en-US" sz="1500" dirty="0">
                <a:solidFill>
                  <a:schemeClr val="tx1"/>
                </a:solidFill>
              </a:rPr>
              <a:t>Offset −90° en la junta 2: q2 = 0 deja el brazo vertical, como el cero de ABB</a:t>
            </a:r>
            <a:endParaRPr lang="en-US" sz="1500" dirty="0"/>
          </a:p>
        </p:txBody>
      </p:sp>
      <p:sp>
        <p:nvSpPr>
          <p:cNvPr id="8" name="tarjeta-CÓDIGO-45"/>
          <p:cNvSpPr/>
          <p:nvPr/>
        </p:nvSpPr>
        <p:spPr>
          <a:xfrm>
            <a:off x="548640" y="5074920"/>
            <a:ext cx="5394960" cy="1143000"/>
          </a:xfrm>
          <a:prstGeom prst="roundRect">
            <a:avLst>
              <a:gd name="adj" fmla="val 6400"/>
            </a:avLst>
          </a:prstGeom>
          <a:solidFill>
            <a:schemeClr val="accent5"/>
          </a:solidFill>
          <a:ln w="12700">
            <a:solidFill>
              <a:schemeClr val="accent5"/>
            </a:solidFill>
            <a:prstDash val="solid"/>
          </a:ln>
        </p:spPr>
      </p:sp>
      <p:sp>
        <p:nvSpPr>
          <p:cNvPr id="9" name="texto-CÓDIGO-46"/>
          <p:cNvSpPr txBox="1"/>
          <p:nvPr/>
        </p:nvSpPr>
        <p:spPr>
          <a:xfrm>
            <a:off x="731520" y="5184648"/>
            <a:ext cx="5029200" cy="9235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CÓDIGO</a:t>
            </a:r>
            <a:endParaRPr lang="en-US" sz="1200" dirty="0"/>
          </a:p>
          <a:p>
            <a:pPr marL="0" indent="0">
              <a:spcAft>
                <a:spcPts val="200"/>
              </a:spcAft>
              <a:buNone/>
            </a:pPr>
            <a:r>
              <a:rPr lang="en-US" sz="1300" dirty="0">
                <a:solidFill>
                  <a:schemeClr val="tx1"/>
                </a:solidFill>
              </a:rPr>
              <a:t>irb120_modelo.py:64 dh_matrix(theta, d, a, alpha)</a:t>
            </a:r>
            <a:endParaRPr lang="en-US" sz="1200" dirty="0"/>
          </a:p>
          <a:p>
            <a:pPr marL="0" indent="0">
              <a:spcAft>
                <a:spcPts val="200"/>
              </a:spcAft>
              <a:buNone/>
            </a:pPr>
            <a:r>
              <a:rPr lang="en-US" sz="1300" dirty="0">
                <a:solidFill>
                  <a:schemeClr val="tx1"/>
                </a:solidFill>
              </a:rPr>
              <a:t>irb120_modelo.py:16 tabla DH · :30–33 límites y v_max</a:t>
            </a:r>
            <a:endParaRPr lang="en-US" sz="1200" dirty="0"/>
          </a:p>
        </p:txBody>
      </p:sp>
      <p:sp>
        <p:nvSpPr>
          <p:cNvPr id="10" name="tarjeta-FUENTE-47"/>
          <p:cNvSpPr/>
          <p:nvPr/>
        </p:nvSpPr>
        <p:spPr>
          <a:xfrm>
            <a:off x="6217920" y="5074920"/>
            <a:ext cx="5422392" cy="1143000"/>
          </a:xfrm>
          <a:prstGeom prst="roundRect">
            <a:avLst>
              <a:gd name="adj" fmla="val 6400"/>
            </a:avLst>
          </a:prstGeom>
          <a:solidFill>
            <a:schemeClr val="accent4"/>
          </a:solidFill>
          <a:ln w="12700">
            <a:solidFill>
              <a:schemeClr val="accent4"/>
            </a:solidFill>
            <a:prstDash val="solid"/>
          </a:ln>
        </p:spPr>
      </p:sp>
      <p:sp>
        <p:nvSpPr>
          <p:cNvPr id="11" name="texto-FUENTE-48"/>
          <p:cNvSpPr txBox="1"/>
          <p:nvPr/>
        </p:nvSpPr>
        <p:spPr>
          <a:xfrm>
            <a:off x="6400800" y="5184648"/>
            <a:ext cx="5056632" cy="9235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FUENTE</a:t>
            </a:r>
            <a:endParaRPr lang="en-US" sz="1200" dirty="0"/>
          </a:p>
          <a:p>
            <a:pPr marL="0" indent="0">
              <a:spcAft>
                <a:spcPts val="200"/>
              </a:spcAft>
              <a:buNone/>
            </a:pPr>
            <a:r>
              <a:rPr lang="en-US" sz="1300" dirty="0">
                <a:solidFill>
                  <a:schemeClr val="tx1"/>
                </a:solidFill>
              </a:rPr>
              <a:t>Siciliano §2.8.2 (DH estándar) · Bahani et al. 2023 Tabla I (datos) · ABB product spec. (límites) · G2 §2.1: no inventar datos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El TCP sale de multiplicar las seis matrices en orden</a:t>
            </a:r>
            <a:endParaRPr lang="en-US" sz="3000" dirty="0"/>
          </a:p>
        </p:txBody>
      </p:sp>
      <p:sp>
        <p:nvSpPr>
          <p:cNvPr id="4" name="caja-ecuaciones-49"/>
          <p:cNvSpPr/>
          <p:nvPr/>
        </p:nvSpPr>
        <p:spPr>
          <a:xfrm>
            <a:off x="548640" y="1280160"/>
            <a:ext cx="6400800" cy="1389680"/>
          </a:xfrm>
          <a:prstGeom prst="roundRect">
            <a:avLst>
              <a:gd name="adj" fmla="val 5264"/>
            </a:avLst>
          </a:prstGeom>
          <a:solidFill>
            <a:schemeClr val="bg2"/>
          </a:solidFill>
          <a:ln w="12700">
            <a:solidFill>
              <a:schemeClr val="bg2"/>
            </a:solidFill>
            <a:prstDash val="solid"/>
          </a:ln>
        </p:spPr>
      </p:sp>
      <p:pic>
        <p:nvPicPr>
          <p:cNvPr id="5" name="ecuacion-fk-50" descr="/tmp/claude-0/deck/eq/fk.png"/>
          <p:cNvPicPr>
            <a:picLocks noChangeAspect="1"/>
          </p:cNvPicPr>
          <p:nvPr/>
        </p:nvPicPr>
        <p:blipFill>
          <a:blip r:embed="rId3"/>
          <a:stretch>
            <a:fillRect/>
          </a:stretch>
        </p:blipFill>
        <p:spPr>
          <a:xfrm>
            <a:off x="777240" y="1508760"/>
            <a:ext cx="5161580" cy="370955"/>
          </a:xfrm>
          <a:prstGeom prst="rect">
            <a:avLst/>
          </a:prstGeom>
        </p:spPr>
      </p:pic>
      <p:pic>
        <p:nvPicPr>
          <p:cNvPr id="6" name="ecuacion-td-51" descr="/tmp/claude-0/deck/eq/td.png"/>
          <p:cNvPicPr>
            <a:picLocks noChangeAspect="1"/>
          </p:cNvPicPr>
          <p:nvPr/>
        </p:nvPicPr>
        <p:blipFill>
          <a:blip r:embed="rId4"/>
          <a:stretch>
            <a:fillRect/>
          </a:stretch>
        </p:blipFill>
        <p:spPr>
          <a:xfrm>
            <a:off x="777240" y="2080883"/>
            <a:ext cx="5306429" cy="360357"/>
          </a:xfrm>
          <a:prstGeom prst="rect">
            <a:avLst/>
          </a:prstGeom>
        </p:spPr>
      </p:pic>
      <p:pic>
        <p:nvPicPr>
          <p:cNvPr id="7" name="figura-52" descr="/tmp/claude-0/deck/P1_punto_de_partida.png"/>
          <p:cNvPicPr>
            <a:picLocks noChangeAspect="1"/>
          </p:cNvPicPr>
          <p:nvPr/>
        </p:nvPicPr>
        <p:blipFill>
          <a:blip r:embed="rId5"/>
          <a:stretch>
            <a:fillRect/>
          </a:stretch>
        </p:blipFill>
        <p:spPr>
          <a:xfrm>
            <a:off x="7270727" y="1234440"/>
            <a:ext cx="4322618" cy="3657600"/>
          </a:xfrm>
          <a:prstGeom prst="rect">
            <a:avLst/>
          </a:prstGeom>
        </p:spPr>
      </p:pic>
      <p:sp>
        <p:nvSpPr>
          <p:cNvPr id="8" name="vinetas-53"/>
          <p:cNvSpPr txBox="1"/>
          <p:nvPr/>
        </p:nvSpPr>
        <p:spPr>
          <a:xfrm>
            <a:off x="548640" y="2697480"/>
            <a:ext cx="6400800" cy="1463040"/>
          </a:xfrm>
          <a:prstGeom prst="rect">
            <a:avLst/>
          </a:prstGeom>
          <a:noFill/>
          <a:ln/>
        </p:spPr>
        <p:txBody>
          <a:bodyPr wrap="square" rtlCol="0" anchor="t"/>
          <a:lstStyle/>
          <a:p>
            <a:pPr marL="342900" indent="-342900">
              <a:spcAft>
                <a:spcPts val="600"/>
              </a:spcAft>
              <a:buSzPct val="100000"/>
              <a:buChar char="•"/>
            </a:pPr>
            <a:r>
              <a:rPr lang="en-US" sz="1500" dirty="0">
                <a:solidFill>
                  <a:schemeClr val="tx1"/>
                </a:solidFill>
              </a:rPr>
              <a:t>Post-multiplicar: cada A_i está en el marco móvil anterior</a:t>
            </a:r>
            <a:endParaRPr lang="en-US" sz="1500" dirty="0"/>
          </a:p>
          <a:p>
            <a:pPr marL="342900" indent="-342900">
              <a:spcAft>
                <a:spcPts val="600"/>
              </a:spcAft>
              <a:buSzPct val="100000"/>
              <a:buChar char="•"/>
            </a:pPr>
            <a:r>
              <a:rPr lang="en-US" sz="1500" dirty="0">
                <a:solidFill>
                  <a:schemeClr val="tx1"/>
                </a:solidFill>
              </a:rPr>
              <a:t>En q = 0: TCP en (0.524, 0, 0.630) m, herramienta hacia +x₀</a:t>
            </a:r>
            <a:endParaRPr lang="en-US" sz="1500" dirty="0"/>
          </a:p>
          <a:p>
            <a:pPr marL="342900" indent="-342900">
              <a:spcAft>
                <a:spcPts val="600"/>
              </a:spcAft>
              <a:buSzPct val="100000"/>
              <a:buChar char="•"/>
            </a:pPr>
            <a:r>
              <a:rPr lang="en-US" sz="1500" dirty="0">
                <a:solidFill>
                  <a:schemeClr val="tx1"/>
                </a:solidFill>
              </a:rPr>
              <a:t>T_d = (0.25, −0.10, 0.12 m, 180°, 0°, 0°): herramienta hacia la mesa</a:t>
            </a:r>
            <a:endParaRPr lang="en-US" sz="1500" dirty="0"/>
          </a:p>
        </p:txBody>
      </p:sp>
      <p:sp>
        <p:nvSpPr>
          <p:cNvPr id="9" name="decision-54"/>
          <p:cNvSpPr/>
          <p:nvPr/>
        </p:nvSpPr>
        <p:spPr>
          <a:xfrm>
            <a:off x="548640" y="4206240"/>
            <a:ext cx="6400800" cy="731520"/>
          </a:xfrm>
          <a:prstGeom prst="roundRect">
            <a:avLst>
              <a:gd name="adj" fmla="val 10000"/>
            </a:avLst>
          </a:prstGeom>
          <a:solidFill>
            <a:schemeClr val="bg1"/>
          </a:solidFill>
          <a:ln w="19050">
            <a:solidFill>
              <a:schemeClr val="accent1"/>
            </a:solidFill>
            <a:prstDash val="solid"/>
          </a:ln>
        </p:spPr>
      </p:sp>
      <p:sp>
        <p:nvSpPr>
          <p:cNvPr id="10" name="texto-decision-55"/>
          <p:cNvSpPr txBox="1"/>
          <p:nvPr/>
        </p:nvSpPr>
        <p:spPr>
          <a:xfrm>
            <a:off x="731520" y="4279392"/>
            <a:ext cx="6035040" cy="585216"/>
          </a:xfrm>
          <a:prstGeom prst="rect">
            <a:avLst/>
          </a:prstGeom>
          <a:noFill/>
          <a:ln/>
        </p:spPr>
        <p:txBody>
          <a:bodyPr wrap="square" lIns="0" tIns="0" rIns="0" bIns="0" rtlCol="0" anchor="ctr"/>
          <a:lstStyle/>
          <a:p>
            <a:pPr marL="0" indent="0">
              <a:buNone/>
            </a:pPr>
            <a:r>
              <a:rPr lang="en-US" sz="1200" b="1" dirty="0">
                <a:solidFill>
                  <a:schemeClr val="accent1"/>
                </a:solidFill>
              </a:rPr>
              <a:t>DECISIÓN DEL GRUPO  </a:t>
            </a:r>
            <a:r>
              <a:rPr lang="en-US" sz="1300" dirty="0">
                <a:solidFill>
                  <a:schemeClr val="tx1"/>
                </a:solidFill>
              </a:rPr>
              <a:t>TCP a 0.150 m sobre z₆, separado de la tabla DH · q_i = 0 (calibración ABB) · T_d elegida por el grupo hasta tener poses del docente</a:t>
            </a:r>
            <a:endParaRPr lang="en-US" sz="1200" dirty="0"/>
          </a:p>
        </p:txBody>
      </p:sp>
      <p:sp>
        <p:nvSpPr>
          <p:cNvPr id="11" name="tarjeta-CÓDIGO-56"/>
          <p:cNvSpPr/>
          <p:nvPr/>
        </p:nvSpPr>
        <p:spPr>
          <a:xfrm>
            <a:off x="548640" y="5074920"/>
            <a:ext cx="5394960" cy="1143000"/>
          </a:xfrm>
          <a:prstGeom prst="roundRect">
            <a:avLst>
              <a:gd name="adj" fmla="val 6400"/>
            </a:avLst>
          </a:prstGeom>
          <a:solidFill>
            <a:schemeClr val="accent5"/>
          </a:solidFill>
          <a:ln w="12700">
            <a:solidFill>
              <a:schemeClr val="accent5"/>
            </a:solidFill>
            <a:prstDash val="solid"/>
          </a:ln>
        </p:spPr>
      </p:sp>
      <p:sp>
        <p:nvSpPr>
          <p:cNvPr id="12" name="texto-CÓDIGO-57"/>
          <p:cNvSpPr txBox="1"/>
          <p:nvPr/>
        </p:nvSpPr>
        <p:spPr>
          <a:xfrm>
            <a:off x="731520" y="5184648"/>
            <a:ext cx="5029200" cy="9235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CÓDIGO</a:t>
            </a:r>
            <a:endParaRPr lang="en-US" sz="1200" dirty="0"/>
          </a:p>
          <a:p>
            <a:pPr marL="0" indent="0">
              <a:spcAft>
                <a:spcPts val="200"/>
              </a:spcAft>
              <a:buNone/>
            </a:pPr>
            <a:r>
              <a:rPr lang="en-US" sz="1300" dirty="0">
                <a:solidFill>
                  <a:schemeClr val="tx1"/>
                </a:solidFill>
              </a:rPr>
              <a:t>irb120_modelo.py:77 marcos(q) · :85 T = T @ dh_matrix(...) · :88 suma del TCP · :98 pose_xyz_rpy</a:t>
            </a:r>
            <a:endParaRPr lang="en-US" sz="1200" dirty="0"/>
          </a:p>
        </p:txBody>
      </p:sp>
      <p:sp>
        <p:nvSpPr>
          <p:cNvPr id="13" name="tarjeta-FUENTE-58"/>
          <p:cNvSpPr/>
          <p:nvPr/>
        </p:nvSpPr>
        <p:spPr>
          <a:xfrm>
            <a:off x="6217920" y="5074920"/>
            <a:ext cx="5422392" cy="1143000"/>
          </a:xfrm>
          <a:prstGeom prst="roundRect">
            <a:avLst>
              <a:gd name="adj" fmla="val 6400"/>
            </a:avLst>
          </a:prstGeom>
          <a:solidFill>
            <a:schemeClr val="accent4"/>
          </a:solidFill>
          <a:ln w="12700">
            <a:solidFill>
              <a:schemeClr val="accent4"/>
            </a:solidFill>
            <a:prstDash val="solid"/>
          </a:ln>
        </p:spPr>
      </p:sp>
      <p:sp>
        <p:nvSpPr>
          <p:cNvPr id="14" name="texto-FUENTE-59"/>
          <p:cNvSpPr txBox="1"/>
          <p:nvPr/>
        </p:nvSpPr>
        <p:spPr>
          <a:xfrm>
            <a:off x="6400800" y="5184648"/>
            <a:ext cx="5056632" cy="9235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FUENTE</a:t>
            </a:r>
            <a:endParaRPr lang="en-US" sz="1200" dirty="0"/>
          </a:p>
          <a:p>
            <a:pPr marL="0" indent="0">
              <a:spcAft>
                <a:spcPts val="200"/>
              </a:spcAft>
              <a:buNone/>
            </a:pPr>
            <a:r>
              <a:rPr lang="en-US" sz="1300" dirty="0">
                <a:solidFill>
                  <a:schemeClr val="tx1"/>
                </a:solidFill>
              </a:rPr>
              <a:t>W07 diap. 2 (FK: solución única por evaluación directa) · W07 diap. 9 paso 1 (T_d) · Siciliano §2.3, §2.4.2</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insignia-60"/>
          <p:cNvSpPr/>
          <p:nvPr/>
        </p:nvSpPr>
        <p:spPr>
          <a:xfrm>
            <a:off x="822960" y="2331720"/>
            <a:ext cx="1234440" cy="1234440"/>
          </a:xfrm>
          <a:prstGeom prst="ellipse">
            <a:avLst/>
          </a:prstGeom>
          <a:solidFill>
            <a:schemeClr val="accent1"/>
          </a:solidFill>
          <a:ln w="12700">
            <a:solidFill>
              <a:schemeClr val="accent1"/>
            </a:solidFill>
            <a:prstDash val="solid"/>
          </a:ln>
        </p:spPr>
      </p:sp>
      <p:sp>
        <p:nvSpPr>
          <p:cNvPr id="3" name="numero-61"/>
          <p:cNvSpPr txBox="1"/>
          <p:nvPr/>
        </p:nvSpPr>
        <p:spPr>
          <a:xfrm>
            <a:off x="822960" y="2331720"/>
            <a:ext cx="1234440" cy="1234440"/>
          </a:xfrm>
          <a:prstGeom prst="rect">
            <a:avLst/>
          </a:prstGeom>
          <a:noFill/>
          <a:ln/>
        </p:spPr>
        <p:txBody>
          <a:bodyPr wrap="square" lIns="0" tIns="0" rIns="0" bIns="0" rtlCol="0" anchor="ctr"/>
          <a:lstStyle/>
          <a:p>
            <a:pPr marL="0" indent="0" algn="ctr">
              <a:buNone/>
            </a:pPr>
            <a:r>
              <a:rPr lang="en-US" sz="4000" b="1" dirty="0">
                <a:solidFill>
                  <a:schemeClr val="bg1"/>
                </a:solidFill>
                <a:latin typeface="Cambria" pitchFamily="34" charset="0"/>
                <a:ea typeface="Cambria" pitchFamily="34" charset="-122"/>
                <a:cs typeface="Cambria" pitchFamily="34" charset="-120"/>
              </a:rPr>
              <a:t>2</a:t>
            </a:r>
            <a:endParaRPr lang="en-US" sz="4000" dirty="0"/>
          </a:p>
        </p:txBody>
      </p:sp>
      <p:sp>
        <p:nvSpPr>
          <p:cNvPr id="4" name="Text 0"/>
          <p:cNvSpPr>
            <a:spLocks noGrp="1"/>
          </p:cNvSpPr>
          <p:nvPr>
            <p:ph type="title" idx="100" hasCustomPrompt="1"/>
          </p:nvPr>
        </p:nvSpPr>
        <p:spPr>
          <a:xfrm>
            <a:off x="2377440" y="2377440"/>
            <a:ext cx="9052560" cy="1097280"/>
          </a:xfrm>
          <a:prstGeom prst="rect">
            <a:avLst/>
          </a:prstGeom>
          <a:noFill/>
          <a:ln/>
        </p:spPr>
        <p:txBody>
          <a:bodyPr wrap="square" rtlCol="0" anchor="ctr"/>
          <a:lstStyle/>
          <a:p>
            <a:pPr marL="0" indent="0" algn="l">
              <a:buNone/>
            </a:pPr>
            <a:r>
              <a:rPr lang="en-US" sz="4000" b="1" dirty="0">
                <a:solidFill>
                  <a:schemeClr val="bg1"/>
                </a:solidFill>
                <a:latin typeface="Cambria" pitchFamily="34" charset="0"/>
                <a:ea typeface="Cambria" pitchFamily="34" charset="-122"/>
                <a:cs typeface="Cambria" pitchFamily="34" charset="-120"/>
              </a:rPr>
              <a:t>Cinemática inversa por Pieper</a:t>
            </a:r>
            <a:endParaRPr lang="en-US" sz="4000" dirty="0"/>
          </a:p>
        </p:txBody>
      </p:sp>
      <p:sp>
        <p:nvSpPr>
          <p:cNvPr id="5" name="Text 0"/>
          <p:cNvSpPr>
            <a:spLocks noGrp="1"/>
          </p:cNvSpPr>
          <p:nvPr>
            <p:ph type="body" idx="101" hasCustomPrompt="1"/>
          </p:nvPr>
        </p:nvSpPr>
        <p:spPr>
          <a:xfrm>
            <a:off x="2377440" y="3474720"/>
            <a:ext cx="9052560" cy="1280160"/>
          </a:xfrm>
          <a:prstGeom prst="rect">
            <a:avLst/>
          </a:prstGeom>
          <a:noFill/>
          <a:ln/>
        </p:spPr>
        <p:txBody>
          <a:bodyPr wrap="square" rtlCol="0" anchor="t"/>
          <a:lstStyle/>
          <a:p>
            <a:pPr marL="0" indent="0">
              <a:buNone/>
            </a:pPr>
            <a:r>
              <a:rPr lang="en-US" sz="1800" dirty="0">
                <a:solidFill>
                  <a:schemeClr val="bg2"/>
                </a:solidFill>
              </a:rPr>
              <a:t>Forma cerrada, sin solvers: 2 cintura × 2 codo × 2 muñeca = 8 ramas</a:t>
            </a:r>
            <a:endParaRPr lang="en-US" sz="1800" dirty="0"/>
          </a:p>
          <a:p>
            <a:pPr marL="0" indent="0">
              <a:buNone/>
            </a:pPr>
            <a:r>
              <a:rPr lang="en-US" sz="1800" dirty="0">
                <a:solidFill>
                  <a:schemeClr val="bg2"/>
                </a:solidFill>
              </a:rPr>
              <a:t>pieper.py · celdas 12–19</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La muñeca esférica separa posición y orientación</a:t>
            </a:r>
            <a:endParaRPr lang="en-US" sz="3000" dirty="0"/>
          </a:p>
        </p:txBody>
      </p:sp>
      <p:sp>
        <p:nvSpPr>
          <p:cNvPr id="4" name="caja-ecuaciones-62"/>
          <p:cNvSpPr/>
          <p:nvPr/>
        </p:nvSpPr>
        <p:spPr>
          <a:xfrm>
            <a:off x="548640" y="1280160"/>
            <a:ext cx="6766560" cy="1412987"/>
          </a:xfrm>
          <a:prstGeom prst="roundRect">
            <a:avLst>
              <a:gd name="adj" fmla="val 5177"/>
            </a:avLst>
          </a:prstGeom>
          <a:solidFill>
            <a:schemeClr val="bg2"/>
          </a:solidFill>
          <a:ln w="12700">
            <a:solidFill>
              <a:schemeClr val="bg2"/>
            </a:solidFill>
            <a:prstDash val="solid"/>
          </a:ln>
        </p:spPr>
      </p:sp>
      <p:pic>
        <p:nvPicPr>
          <p:cNvPr id="5" name="ecuacion-pw-63" descr="/tmp/claude-0/deck/eq/pw.png"/>
          <p:cNvPicPr>
            <a:picLocks noChangeAspect="1"/>
          </p:cNvPicPr>
          <p:nvPr/>
        </p:nvPicPr>
        <p:blipFill>
          <a:blip r:embed="rId3"/>
          <a:stretch>
            <a:fillRect/>
          </a:stretch>
        </p:blipFill>
        <p:spPr>
          <a:xfrm>
            <a:off x="777240" y="1508760"/>
            <a:ext cx="4172366" cy="349758"/>
          </a:xfrm>
          <a:prstGeom prst="rect">
            <a:avLst/>
          </a:prstGeom>
        </p:spPr>
      </p:pic>
      <p:pic>
        <p:nvPicPr>
          <p:cNvPr id="6" name="ecuacion-q1-64" descr="/tmp/claude-0/deck/eq/q1.png"/>
          <p:cNvPicPr>
            <a:picLocks noChangeAspect="1"/>
          </p:cNvPicPr>
          <p:nvPr/>
        </p:nvPicPr>
        <p:blipFill>
          <a:blip r:embed="rId4"/>
          <a:stretch>
            <a:fillRect/>
          </a:stretch>
        </p:blipFill>
        <p:spPr>
          <a:xfrm>
            <a:off x="777240" y="2059686"/>
            <a:ext cx="6309360" cy="404861"/>
          </a:xfrm>
          <a:prstGeom prst="rect">
            <a:avLst/>
          </a:prstGeom>
        </p:spPr>
      </p:pic>
      <p:pic>
        <p:nvPicPr>
          <p:cNvPr id="7" name="figura-65" descr="/tmp/claude-0/deck/P2_ramas_pieper.png"/>
          <p:cNvPicPr>
            <a:picLocks noChangeAspect="1"/>
          </p:cNvPicPr>
          <p:nvPr/>
        </p:nvPicPr>
        <p:blipFill>
          <a:blip r:embed="rId5"/>
          <a:stretch>
            <a:fillRect/>
          </a:stretch>
        </p:blipFill>
        <p:spPr>
          <a:xfrm>
            <a:off x="7543800" y="1234440"/>
            <a:ext cx="4096512" cy="3218688"/>
          </a:xfrm>
          <a:prstGeom prst="rect">
            <a:avLst/>
          </a:prstGeom>
        </p:spPr>
      </p:pic>
      <p:sp>
        <p:nvSpPr>
          <p:cNvPr id="8" name="vinetas-66"/>
          <p:cNvSpPr txBox="1"/>
          <p:nvPr/>
        </p:nvSpPr>
        <p:spPr>
          <a:xfrm>
            <a:off x="548640" y="2788920"/>
            <a:ext cx="6766560" cy="2103120"/>
          </a:xfrm>
          <a:prstGeom prst="rect">
            <a:avLst/>
          </a:prstGeom>
          <a:noFill/>
          <a:ln/>
        </p:spPr>
        <p:txBody>
          <a:bodyPr wrap="square" rtlCol="0" anchor="t"/>
          <a:lstStyle/>
          <a:p>
            <a:pPr marL="342900" indent="-342900">
              <a:spcAft>
                <a:spcPts val="600"/>
              </a:spcAft>
              <a:buSzPct val="100000"/>
              <a:buChar char="•"/>
            </a:pPr>
            <a:r>
              <a:rPr lang="en-US" sz="1500" dirty="0">
                <a:solidFill>
                  <a:schemeClr val="tx1"/>
                </a:solidFill>
              </a:rPr>
              <a:t>a₄ = a₅ = d₅ = 0: los ejes 4, 5 y 6 se cortan en W</a:t>
            </a:r>
            <a:endParaRPr lang="en-US" sz="1500" dirty="0"/>
          </a:p>
          <a:p>
            <a:pPr marL="342900" indent="-342900">
              <a:spcAft>
                <a:spcPts val="600"/>
              </a:spcAft>
              <a:buSzPct val="100000"/>
              <a:buChar char="•"/>
            </a:pPr>
            <a:r>
              <a:rPr lang="en-US" sz="1500" dirty="0">
                <a:solidFill>
                  <a:schemeClr val="tx1"/>
                </a:solidFill>
              </a:rPr>
              <a:t>0.222 m = brida 0.072 + herramienta 0.150</a:t>
            </a:r>
            <a:endParaRPr lang="en-US" sz="1500" dirty="0"/>
          </a:p>
          <a:p>
            <a:pPr marL="342900" indent="-342900">
              <a:spcAft>
                <a:spcPts val="600"/>
              </a:spcAft>
              <a:buSzPct val="100000"/>
              <a:buChar char="•"/>
            </a:pPr>
            <a:r>
              <a:rPr lang="en-US" sz="1500" dirty="0">
                <a:solidFill>
                  <a:schemeClr val="tx1"/>
                </a:solidFill>
              </a:rPr>
              <a:t>Ejemplo: p_W = (0.25, −0.10, 0.342) m, q1 = −21.80°</a:t>
            </a:r>
            <a:endParaRPr lang="en-US" sz="1500" dirty="0"/>
          </a:p>
          <a:p>
            <a:pPr marL="342900" indent="-342900">
              <a:spcAft>
                <a:spcPts val="600"/>
              </a:spcAft>
              <a:buSzPct val="100000"/>
              <a:buChar char="•"/>
            </a:pPr>
            <a:r>
              <a:rPr lang="en-US" sz="1500" dirty="0">
                <a:solidFill>
                  <a:schemeClr val="tx1"/>
                </a:solidFill>
              </a:rPr>
              <a:t>Cintura de espaldas: q1 + π con r &lt; 0</a:t>
            </a:r>
            <a:endParaRPr lang="en-US" sz="1500" dirty="0"/>
          </a:p>
        </p:txBody>
      </p:sp>
      <p:sp>
        <p:nvSpPr>
          <p:cNvPr id="9" name="tarjeta-CÓDIGO-67"/>
          <p:cNvSpPr/>
          <p:nvPr/>
        </p:nvSpPr>
        <p:spPr>
          <a:xfrm>
            <a:off x="548640" y="5074920"/>
            <a:ext cx="5394960" cy="1143000"/>
          </a:xfrm>
          <a:prstGeom prst="roundRect">
            <a:avLst>
              <a:gd name="adj" fmla="val 6400"/>
            </a:avLst>
          </a:prstGeom>
          <a:solidFill>
            <a:schemeClr val="accent5"/>
          </a:solidFill>
          <a:ln w="12700">
            <a:solidFill>
              <a:schemeClr val="accent5"/>
            </a:solidFill>
            <a:prstDash val="solid"/>
          </a:ln>
        </p:spPr>
      </p:sp>
      <p:sp>
        <p:nvSpPr>
          <p:cNvPr id="10" name="texto-CÓDIGO-68"/>
          <p:cNvSpPr txBox="1"/>
          <p:nvPr/>
        </p:nvSpPr>
        <p:spPr>
          <a:xfrm>
            <a:off x="731520" y="5184648"/>
            <a:ext cx="5029200" cy="9235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CÓDIGO</a:t>
            </a:r>
            <a:endParaRPr lang="en-US" sz="1200" dirty="0"/>
          </a:p>
          <a:p>
            <a:pPr marL="0" indent="0">
              <a:spcAft>
                <a:spcPts val="200"/>
              </a:spcAft>
              <a:buNone/>
            </a:pPr>
            <a:r>
              <a:rPr lang="en-US" sz="1300" dirty="0">
                <a:solidFill>
                  <a:schemeClr val="tx1"/>
                </a:solidFill>
              </a:rPr>
              <a:t>pieper.py:42 centro_muneca(T_d) · pieper.py:51–53 dos ramas de q1</a:t>
            </a:r>
            <a:endParaRPr lang="en-US" sz="1200" dirty="0"/>
          </a:p>
        </p:txBody>
      </p:sp>
      <p:sp>
        <p:nvSpPr>
          <p:cNvPr id="11" name="tarjeta-FUENTE-69"/>
          <p:cNvSpPr/>
          <p:nvPr/>
        </p:nvSpPr>
        <p:spPr>
          <a:xfrm>
            <a:off x="6217920" y="5074920"/>
            <a:ext cx="5422392" cy="1143000"/>
          </a:xfrm>
          <a:prstGeom prst="roundRect">
            <a:avLst>
              <a:gd name="adj" fmla="val 6400"/>
            </a:avLst>
          </a:prstGeom>
          <a:solidFill>
            <a:schemeClr val="accent4"/>
          </a:solidFill>
          <a:ln w="12700">
            <a:solidFill>
              <a:schemeClr val="accent4"/>
            </a:solidFill>
            <a:prstDash val="solid"/>
          </a:ln>
        </p:spPr>
      </p:sp>
      <p:sp>
        <p:nvSpPr>
          <p:cNvPr id="12" name="texto-FUENTE-70"/>
          <p:cNvSpPr txBox="1"/>
          <p:nvPr/>
        </p:nvSpPr>
        <p:spPr>
          <a:xfrm>
            <a:off x="6400800" y="5184648"/>
            <a:ext cx="5056632" cy="9235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FUENTE</a:t>
            </a:r>
            <a:endParaRPr lang="en-US" sz="1200" dirty="0"/>
          </a:p>
          <a:p>
            <a:pPr marL="0" indent="0">
              <a:spcAft>
                <a:spcPts val="200"/>
              </a:spcAft>
              <a:buNone/>
            </a:pPr>
            <a:r>
              <a:rPr lang="en-US" sz="1300" dirty="0">
                <a:solidFill>
                  <a:schemeClr val="tx1"/>
                </a:solidFill>
              </a:rPr>
              <a:t>W07 diap. 8 (centro de muñeca, p_W = p_d − d6·z_d) · W07 diap. 9–10 hoja de ruta · HR pasos 1–3 · AP hojas 1–2</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El brazo es el 2R de clase con un antebrazo desfasado</a:t>
            </a:r>
            <a:endParaRPr lang="en-US" sz="3000" dirty="0"/>
          </a:p>
        </p:txBody>
      </p:sp>
      <p:sp>
        <p:nvSpPr>
          <p:cNvPr id="4" name="caja-ecuaciones-71"/>
          <p:cNvSpPr/>
          <p:nvPr/>
        </p:nvSpPr>
        <p:spPr>
          <a:xfrm>
            <a:off x="548640" y="1280160"/>
            <a:ext cx="11091672" cy="1522476"/>
          </a:xfrm>
          <a:prstGeom prst="roundRect">
            <a:avLst>
              <a:gd name="adj" fmla="val 4805"/>
            </a:avLst>
          </a:prstGeom>
          <a:solidFill>
            <a:schemeClr val="bg2"/>
          </a:solidFill>
          <a:ln w="12700">
            <a:solidFill>
              <a:schemeClr val="bg2"/>
            </a:solidFill>
            <a:prstDash val="solid"/>
          </a:ln>
        </p:spPr>
      </p:sp>
      <p:pic>
        <p:nvPicPr>
          <p:cNvPr id="5" name="ecuacion-q3-72" descr="/tmp/claude-0/deck/eq/q3.png"/>
          <p:cNvPicPr>
            <a:picLocks noChangeAspect="1"/>
          </p:cNvPicPr>
          <p:nvPr/>
        </p:nvPicPr>
        <p:blipFill>
          <a:blip r:embed="rId3"/>
          <a:stretch>
            <a:fillRect/>
          </a:stretch>
        </p:blipFill>
        <p:spPr>
          <a:xfrm>
            <a:off x="777240" y="1508760"/>
            <a:ext cx="7436566" cy="493776"/>
          </a:xfrm>
          <a:prstGeom prst="rect">
            <a:avLst/>
          </a:prstGeom>
        </p:spPr>
      </p:pic>
      <p:pic>
        <p:nvPicPr>
          <p:cNvPr id="6" name="ecuacion-q2-73" descr="/tmp/claude-0/deck/eq/q2.png"/>
          <p:cNvPicPr>
            <a:picLocks noChangeAspect="1"/>
          </p:cNvPicPr>
          <p:nvPr/>
        </p:nvPicPr>
        <p:blipFill>
          <a:blip r:embed="rId4"/>
          <a:stretch>
            <a:fillRect/>
          </a:stretch>
        </p:blipFill>
        <p:spPr>
          <a:xfrm>
            <a:off x="777240" y="2203704"/>
            <a:ext cx="7601158" cy="370332"/>
          </a:xfrm>
          <a:prstGeom prst="rect">
            <a:avLst/>
          </a:prstGeom>
        </p:spPr>
      </p:pic>
      <p:sp>
        <p:nvSpPr>
          <p:cNvPr id="7" name="tarjeta-L₂ = 0.270 m, L₃ = 0.310 m-74"/>
          <p:cNvSpPr/>
          <p:nvPr/>
        </p:nvSpPr>
        <p:spPr>
          <a:xfrm>
            <a:off x="548640" y="2880360"/>
            <a:ext cx="3566160" cy="1783080"/>
          </a:xfrm>
          <a:prstGeom prst="roundRect">
            <a:avLst>
              <a:gd name="adj" fmla="val 4103"/>
            </a:avLst>
          </a:prstGeom>
          <a:solidFill>
            <a:schemeClr val="bg2"/>
          </a:solidFill>
          <a:ln w="12700">
            <a:solidFill>
              <a:schemeClr val="bg2"/>
            </a:solidFill>
            <a:prstDash val="solid"/>
          </a:ln>
        </p:spPr>
      </p:sp>
      <p:sp>
        <p:nvSpPr>
          <p:cNvPr id="8" name="texto-L₂ = 0.270 m, L₃ = 0.310 m-75"/>
          <p:cNvSpPr txBox="1"/>
          <p:nvPr/>
        </p:nvSpPr>
        <p:spPr>
          <a:xfrm>
            <a:off x="731520" y="2990088"/>
            <a:ext cx="3200400" cy="156362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L₂ = 0.270 m, L₃ = 0.310 m</a:t>
            </a:r>
            <a:endParaRPr lang="en-US" sz="1200" dirty="0"/>
          </a:p>
          <a:p>
            <a:pPr marL="0" indent="0">
              <a:spcAft>
                <a:spcPts val="200"/>
              </a:spcAft>
              <a:buNone/>
            </a:pPr>
            <a:r>
              <a:rPr lang="en-US" sz="1300" dirty="0">
                <a:solidFill>
                  <a:schemeClr val="tx1"/>
                </a:solidFill>
              </a:rPr>
              <a:t>δ = atan2(a₃, d₄) = 13.05° corrige el desfase del antebrazo</a:t>
            </a:r>
            <a:endParaRPr lang="en-US" sz="1200" dirty="0"/>
          </a:p>
        </p:txBody>
      </p:sp>
      <p:sp>
        <p:nvSpPr>
          <p:cNvPr id="9" name="tarjeta-|k| &gt; 1 → fuera de alcance-76"/>
          <p:cNvSpPr/>
          <p:nvPr/>
        </p:nvSpPr>
        <p:spPr>
          <a:xfrm>
            <a:off x="4311396" y="2880360"/>
            <a:ext cx="3566160" cy="1783080"/>
          </a:xfrm>
          <a:prstGeom prst="roundRect">
            <a:avLst>
              <a:gd name="adj" fmla="val 4103"/>
            </a:avLst>
          </a:prstGeom>
          <a:solidFill>
            <a:schemeClr val="bg2"/>
          </a:solidFill>
          <a:ln w="12700">
            <a:solidFill>
              <a:schemeClr val="bg2"/>
            </a:solidFill>
            <a:prstDash val="solid"/>
          </a:ln>
        </p:spPr>
      </p:sp>
      <p:sp>
        <p:nvSpPr>
          <p:cNvPr id="10" name="texto-|k| &gt; 1 → fuera de alcance-77"/>
          <p:cNvSpPr txBox="1"/>
          <p:nvPr/>
        </p:nvSpPr>
        <p:spPr>
          <a:xfrm>
            <a:off x="4494276" y="2990088"/>
            <a:ext cx="3200400" cy="156362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|k| &gt; 1 → fuera de alcance</a:t>
            </a:r>
            <a:endParaRPr lang="en-US" sz="1200" dirty="0"/>
          </a:p>
          <a:p>
            <a:pPr marL="0" indent="0">
              <a:spcAft>
                <a:spcPts val="200"/>
              </a:spcAft>
              <a:buNone/>
            </a:pPr>
            <a:r>
              <a:rPr lang="en-US" sz="1300" dirty="0">
                <a:solidFill>
                  <a:schemeClr val="tx1"/>
                </a:solidFill>
              </a:rPr>
              <a:t>es la condición |a₁ − a₂| ≤ √(x² + y²) ≤ a₁ + a₂ (W07 diap. 6)</a:t>
            </a:r>
            <a:endParaRPr lang="en-US" sz="1200" dirty="0"/>
          </a:p>
        </p:txBody>
      </p:sp>
      <p:sp>
        <p:nvSpPr>
          <p:cNvPr id="11" name="tarjeta-± = codo arriba / abajo-78"/>
          <p:cNvSpPr/>
          <p:nvPr/>
        </p:nvSpPr>
        <p:spPr>
          <a:xfrm>
            <a:off x="8074152" y="2880360"/>
            <a:ext cx="3566160" cy="1783080"/>
          </a:xfrm>
          <a:prstGeom prst="roundRect">
            <a:avLst>
              <a:gd name="adj" fmla="val 4103"/>
            </a:avLst>
          </a:prstGeom>
          <a:solidFill>
            <a:schemeClr val="bg2"/>
          </a:solidFill>
          <a:ln w="12700">
            <a:solidFill>
              <a:schemeClr val="bg2"/>
            </a:solidFill>
            <a:prstDash val="solid"/>
          </a:ln>
        </p:spPr>
      </p:sp>
      <p:sp>
        <p:nvSpPr>
          <p:cNvPr id="12" name="texto-± = codo arriba / abajo-79"/>
          <p:cNvSpPr txBox="1"/>
          <p:nvPr/>
        </p:nvSpPr>
        <p:spPr>
          <a:xfrm>
            <a:off x="8257032" y="2990088"/>
            <a:ext cx="3200400" cy="156362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 = codo arriba / abajo</a:t>
            </a:r>
            <a:endParaRPr lang="en-US" sz="1200" dirty="0"/>
          </a:p>
          <a:p>
            <a:pPr marL="0" indent="0">
              <a:spcAft>
                <a:spcPts val="200"/>
              </a:spcAft>
              <a:buNone/>
            </a:pPr>
            <a:r>
              <a:rPr lang="en-US" sz="1300" dirty="0">
                <a:solidFill>
                  <a:schemeClr val="tx1"/>
                </a:solidFill>
              </a:rPr>
              <a:t>ejemplo: k = 0.5603 → q3 = 47.13° o 158.97°; q2 = 9.63°</a:t>
            </a:r>
            <a:endParaRPr lang="en-US" sz="1200" dirty="0"/>
          </a:p>
        </p:txBody>
      </p:sp>
      <p:sp>
        <p:nvSpPr>
          <p:cNvPr id="13" name="tarjeta-CÓDIGO-80"/>
          <p:cNvSpPr/>
          <p:nvPr/>
        </p:nvSpPr>
        <p:spPr>
          <a:xfrm>
            <a:off x="548640" y="5074920"/>
            <a:ext cx="5394960" cy="1143000"/>
          </a:xfrm>
          <a:prstGeom prst="roundRect">
            <a:avLst>
              <a:gd name="adj" fmla="val 6400"/>
            </a:avLst>
          </a:prstGeom>
          <a:solidFill>
            <a:schemeClr val="accent5"/>
          </a:solidFill>
          <a:ln w="12700">
            <a:solidFill>
              <a:schemeClr val="accent5"/>
            </a:solidFill>
            <a:prstDash val="solid"/>
          </a:ln>
        </p:spPr>
      </p:sp>
      <p:sp>
        <p:nvSpPr>
          <p:cNvPr id="14" name="texto-CÓDIGO-81"/>
          <p:cNvSpPr txBox="1"/>
          <p:nvPr/>
        </p:nvSpPr>
        <p:spPr>
          <a:xfrm>
            <a:off x="731520" y="5184648"/>
            <a:ext cx="5029200" cy="9235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CÓDIGO</a:t>
            </a:r>
            <a:endParaRPr lang="en-US" sz="1200" dirty="0"/>
          </a:p>
          <a:p>
            <a:pPr marL="0" indent="0">
              <a:spcAft>
                <a:spcPts val="200"/>
              </a:spcAft>
              <a:buNone/>
            </a:pPr>
            <a:r>
              <a:rPr lang="en-US" sz="1300" dirty="0">
                <a:solidFill>
                  <a:schemeClr val="tx1"/>
                </a:solidFill>
              </a:rPr>
              <a:t>pieper.py:55 k = (L2² + L3² − |SW|²)/(2 L2 L3) · :61 q3 · :62–63 q2 · :64–66 nombre arriba/abajo</a:t>
            </a:r>
            <a:endParaRPr lang="en-US" sz="1200" dirty="0"/>
          </a:p>
        </p:txBody>
      </p:sp>
      <p:sp>
        <p:nvSpPr>
          <p:cNvPr id="15" name="tarjeta-FUENTE-82"/>
          <p:cNvSpPr/>
          <p:nvPr/>
        </p:nvSpPr>
        <p:spPr>
          <a:xfrm>
            <a:off x="6217920" y="5074920"/>
            <a:ext cx="5422392" cy="1143000"/>
          </a:xfrm>
          <a:prstGeom prst="roundRect">
            <a:avLst>
              <a:gd name="adj" fmla="val 6400"/>
            </a:avLst>
          </a:prstGeom>
          <a:solidFill>
            <a:schemeClr val="accent4"/>
          </a:solidFill>
          <a:ln w="12700">
            <a:solidFill>
              <a:schemeClr val="accent4"/>
            </a:solidFill>
            <a:prstDash val="solid"/>
          </a:ln>
        </p:spPr>
      </p:sp>
      <p:sp>
        <p:nvSpPr>
          <p:cNvPr id="16" name="texto-FUENTE-83"/>
          <p:cNvSpPr txBox="1"/>
          <p:nvPr/>
        </p:nvSpPr>
        <p:spPr>
          <a:xfrm>
            <a:off x="6400800" y="5184648"/>
            <a:ext cx="5056632" cy="9235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FUENTE</a:t>
            </a:r>
            <a:endParaRPr lang="en-US" sz="1200" dirty="0"/>
          </a:p>
          <a:p>
            <a:pPr marL="0" indent="0">
              <a:spcAft>
                <a:spcPts val="200"/>
              </a:spcAft>
              <a:buNone/>
            </a:pPr>
            <a:r>
              <a:rPr lang="en-US" sz="1300" dirty="0">
                <a:solidFill>
                  <a:schemeClr val="tx1"/>
                </a:solidFill>
              </a:rPr>
              <a:t>W07 diap. 4–5 (2R: ley de cosenos y atan2) · W07 diap. 6 (alcance) · AP hoja 3</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La muñeca resuelve lo que falta como ángulos ZYZ</a:t>
            </a:r>
            <a:endParaRPr lang="en-US" sz="3000" dirty="0"/>
          </a:p>
        </p:txBody>
      </p:sp>
      <p:sp>
        <p:nvSpPr>
          <p:cNvPr id="4" name="caja-ecuaciones-84"/>
          <p:cNvSpPr/>
          <p:nvPr/>
        </p:nvSpPr>
        <p:spPr>
          <a:xfrm>
            <a:off x="548640" y="1280160"/>
            <a:ext cx="11091672" cy="1977432"/>
          </a:xfrm>
          <a:prstGeom prst="roundRect">
            <a:avLst>
              <a:gd name="adj" fmla="val 3699"/>
            </a:avLst>
          </a:prstGeom>
          <a:solidFill>
            <a:schemeClr val="bg2"/>
          </a:solidFill>
          <a:ln w="12700">
            <a:solidFill>
              <a:schemeClr val="bg2"/>
            </a:solidFill>
            <a:prstDash val="solid"/>
          </a:ln>
        </p:spPr>
      </p:sp>
      <p:pic>
        <p:nvPicPr>
          <p:cNvPr id="5" name="ecuacion-r36-85" descr="/tmp/claude-0/deck/eq/r36.png"/>
          <p:cNvPicPr>
            <a:picLocks noChangeAspect="1"/>
          </p:cNvPicPr>
          <p:nvPr/>
        </p:nvPicPr>
        <p:blipFill>
          <a:blip r:embed="rId3"/>
          <a:stretch>
            <a:fillRect/>
          </a:stretch>
        </p:blipFill>
        <p:spPr>
          <a:xfrm>
            <a:off x="777240" y="1508760"/>
            <a:ext cx="4335254" cy="357863"/>
          </a:xfrm>
          <a:prstGeom prst="rect">
            <a:avLst/>
          </a:prstGeom>
        </p:spPr>
      </p:pic>
      <p:pic>
        <p:nvPicPr>
          <p:cNvPr id="6" name="ecuacion-zyz-86" descr="/tmp/claude-0/deck/eq/zyz.png"/>
          <p:cNvPicPr>
            <a:picLocks noChangeAspect="1"/>
          </p:cNvPicPr>
          <p:nvPr/>
        </p:nvPicPr>
        <p:blipFill>
          <a:blip r:embed="rId4"/>
          <a:stretch>
            <a:fillRect/>
          </a:stretch>
        </p:blipFill>
        <p:spPr>
          <a:xfrm>
            <a:off x="777240" y="2067791"/>
            <a:ext cx="9686156" cy="422619"/>
          </a:xfrm>
          <a:prstGeom prst="rect">
            <a:avLst/>
          </a:prstGeom>
        </p:spPr>
      </p:pic>
      <p:pic>
        <p:nvPicPr>
          <p:cNvPr id="7" name="ecuacion-wrap-87" descr="/tmp/claude-0/deck/eq/wrap.png"/>
          <p:cNvPicPr>
            <a:picLocks noChangeAspect="1"/>
          </p:cNvPicPr>
          <p:nvPr/>
        </p:nvPicPr>
        <p:blipFill>
          <a:blip r:embed="rId5"/>
          <a:stretch>
            <a:fillRect/>
          </a:stretch>
        </p:blipFill>
        <p:spPr>
          <a:xfrm>
            <a:off x="777240" y="2691578"/>
            <a:ext cx="6131385" cy="337414"/>
          </a:xfrm>
          <a:prstGeom prst="rect">
            <a:avLst/>
          </a:prstGeom>
        </p:spPr>
      </p:pic>
      <p:sp>
        <p:nvSpPr>
          <p:cNvPr id="8" name="vinetas-88"/>
          <p:cNvSpPr txBox="1"/>
          <p:nvPr/>
        </p:nvSpPr>
        <p:spPr>
          <a:xfrm>
            <a:off x="548640" y="3520440"/>
            <a:ext cx="6035040" cy="1463040"/>
          </a:xfrm>
          <a:prstGeom prst="rect">
            <a:avLst/>
          </a:prstGeom>
          <a:noFill/>
          <a:ln/>
        </p:spPr>
        <p:txBody>
          <a:bodyPr wrap="square" rtlCol="0" anchor="t"/>
          <a:lstStyle/>
          <a:p>
            <a:pPr marL="342900" indent="-342900">
              <a:spcAft>
                <a:spcPts val="600"/>
              </a:spcAft>
              <a:buSzPct val="100000"/>
              <a:buChar char="•"/>
            </a:pPr>
            <a:r>
              <a:rPr lang="en-US" sz="1500" dirty="0">
                <a:solidFill>
                  <a:schemeClr val="tx1"/>
                </a:solidFill>
              </a:rPr>
              <a:t>Ejemplo rama 1: β = ±33.24°, q4 = 0°, q6 = −201.80° → envuelto 158.20°</a:t>
            </a:r>
            <a:endParaRPr lang="en-US" sz="1500" dirty="0"/>
          </a:p>
          <a:p>
            <a:pPr marL="342900" indent="-342900">
              <a:spcAft>
                <a:spcPts val="600"/>
              </a:spcAft>
              <a:buSzPct val="100000"/>
              <a:buChar char="•"/>
            </a:pPr>
            <a:r>
              <a:rPr lang="en-US" sz="1500" dirty="0">
                <a:solidFill>
                  <a:schemeClr val="tx1"/>
                </a:solidFill>
              </a:rPr>
              <a:t>atan2 en todas las juntas: conserva el cuadrante y no divide por cero (W07 diap. 11)</a:t>
            </a:r>
            <a:endParaRPr lang="en-US" sz="1500" dirty="0"/>
          </a:p>
        </p:txBody>
      </p:sp>
      <p:sp>
        <p:nvSpPr>
          <p:cNvPr id="9" name="decision-89"/>
          <p:cNvSpPr/>
          <p:nvPr/>
        </p:nvSpPr>
        <p:spPr>
          <a:xfrm>
            <a:off x="6766560" y="3566160"/>
            <a:ext cx="4873752" cy="1005840"/>
          </a:xfrm>
          <a:prstGeom prst="roundRect">
            <a:avLst>
              <a:gd name="adj" fmla="val 7273"/>
            </a:avLst>
          </a:prstGeom>
          <a:solidFill>
            <a:schemeClr val="bg1"/>
          </a:solidFill>
          <a:ln w="19050">
            <a:solidFill>
              <a:schemeClr val="accent1"/>
            </a:solidFill>
            <a:prstDash val="solid"/>
          </a:ln>
        </p:spPr>
      </p:sp>
      <p:sp>
        <p:nvSpPr>
          <p:cNvPr id="10" name="texto-decision-90"/>
          <p:cNvSpPr txBox="1"/>
          <p:nvPr/>
        </p:nvSpPr>
        <p:spPr>
          <a:xfrm>
            <a:off x="6949440" y="3639312"/>
            <a:ext cx="4507992" cy="859536"/>
          </a:xfrm>
          <a:prstGeom prst="rect">
            <a:avLst/>
          </a:prstGeom>
          <a:noFill/>
          <a:ln/>
        </p:spPr>
        <p:txBody>
          <a:bodyPr wrap="square" lIns="0" tIns="0" rIns="0" bIns="0" rtlCol="0" anchor="ctr"/>
          <a:lstStyle/>
          <a:p>
            <a:pPr marL="0" indent="0">
              <a:buNone/>
            </a:pPr>
            <a:r>
              <a:rPr lang="en-US" sz="1200" b="1" dirty="0">
                <a:solidFill>
                  <a:schemeClr val="accent1"/>
                </a:solidFill>
              </a:rPr>
              <a:t>DECISIÓN DEL GRUPO  </a:t>
            </a:r>
            <a:r>
              <a:rPr lang="en-US" sz="1300" dirty="0">
                <a:solidFill>
                  <a:schemeClr val="tx1"/>
                </a:solidFill>
              </a:rPr>
              <a:t>Muñeca singular (q5 = 0): fijar q4 = q4_ref y conservar 8 filas · q6 al representante más cercano a q_i</a:t>
            </a:r>
            <a:endParaRPr lang="en-US" sz="1200" dirty="0"/>
          </a:p>
        </p:txBody>
      </p:sp>
      <p:sp>
        <p:nvSpPr>
          <p:cNvPr id="11" name="tarjeta-CÓDIGO-91"/>
          <p:cNvSpPr/>
          <p:nvPr/>
        </p:nvSpPr>
        <p:spPr>
          <a:xfrm>
            <a:off x="548640" y="5074920"/>
            <a:ext cx="5394960" cy="1143000"/>
          </a:xfrm>
          <a:prstGeom prst="roundRect">
            <a:avLst>
              <a:gd name="adj" fmla="val 6400"/>
            </a:avLst>
          </a:prstGeom>
          <a:solidFill>
            <a:schemeClr val="accent5"/>
          </a:solidFill>
          <a:ln w="12700">
            <a:solidFill>
              <a:schemeClr val="accent5"/>
            </a:solidFill>
            <a:prstDash val="solid"/>
          </a:ln>
        </p:spPr>
      </p:sp>
      <p:sp>
        <p:nvSpPr>
          <p:cNvPr id="12" name="texto-CÓDIGO-92"/>
          <p:cNvSpPr txBox="1"/>
          <p:nvPr/>
        </p:nvSpPr>
        <p:spPr>
          <a:xfrm>
            <a:off x="731520" y="5184648"/>
            <a:ext cx="5029200" cy="9235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CÓDIGO</a:t>
            </a:r>
            <a:endParaRPr lang="en-US" sz="1200" dirty="0"/>
          </a:p>
          <a:p>
            <a:pPr marL="0" indent="0">
              <a:spcAft>
                <a:spcPts val="200"/>
              </a:spcAft>
              <a:buNone/>
            </a:pPr>
            <a:r>
              <a:rPr lang="en-US" sz="1300" dirty="0">
                <a:solidFill>
                  <a:schemeClr val="tx1"/>
                </a:solidFill>
              </a:rPr>
              <a:t>pieper.py:144 R36 = R03ᵀ R_d · :80 soluciones_muneca · :84–89 caso singular · :37 envolver · seleccion_ramas.py:30</a:t>
            </a:r>
            <a:endParaRPr lang="en-US" sz="1200" dirty="0"/>
          </a:p>
        </p:txBody>
      </p:sp>
      <p:sp>
        <p:nvSpPr>
          <p:cNvPr id="13" name="tarjeta-FUENTE-93"/>
          <p:cNvSpPr/>
          <p:nvPr/>
        </p:nvSpPr>
        <p:spPr>
          <a:xfrm>
            <a:off x="6217920" y="5074920"/>
            <a:ext cx="5422392" cy="1143000"/>
          </a:xfrm>
          <a:prstGeom prst="roundRect">
            <a:avLst>
              <a:gd name="adj" fmla="val 6400"/>
            </a:avLst>
          </a:prstGeom>
          <a:solidFill>
            <a:schemeClr val="accent4"/>
          </a:solidFill>
          <a:ln w="12700">
            <a:solidFill>
              <a:schemeClr val="accent4"/>
            </a:solidFill>
            <a:prstDash val="solid"/>
          </a:ln>
        </p:spPr>
      </p:sp>
      <p:sp>
        <p:nvSpPr>
          <p:cNvPr id="14" name="texto-FUENTE-94"/>
          <p:cNvSpPr txBox="1"/>
          <p:nvPr/>
        </p:nvSpPr>
        <p:spPr>
          <a:xfrm>
            <a:off x="6400800" y="5184648"/>
            <a:ext cx="5056632" cy="9235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FUENTE</a:t>
            </a:r>
            <a:endParaRPr lang="en-US" sz="1200" dirty="0"/>
          </a:p>
          <a:p>
            <a:pPr marL="0" indent="0">
              <a:spcAft>
                <a:spcPts val="200"/>
              </a:spcAft>
              <a:buNone/>
            </a:pPr>
            <a:r>
              <a:rPr lang="en-US" sz="1300" dirty="0">
                <a:solidFill>
                  <a:schemeClr val="tx1"/>
                </a:solidFill>
              </a:rPr>
              <a:t>W07 diap. 10 pasos 5–7 · HR pasos 4–6 · AP hoja 4 (Euler ZYZ) · Siciliano §2.2, §2.4.1</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Las 8 ramas existen, pero solo una cabe en los límites</a:t>
            </a:r>
            <a:endParaRPr lang="en-US" sz="3000" dirty="0"/>
          </a:p>
        </p:txBody>
      </p:sp>
      <p:graphicFrame>
        <p:nvGraphicFramePr>
          <p:cNvPr id="12" name="tabla-95"/>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3950208"/>
        </p:xfrm>
        <a:graphic>
          <a:graphicData uri="http://schemas.openxmlformats.org/drawingml/2006/table">
            <a:tbl>
              <a:tblPr/>
              <a:tblGrid>
                <a:gridCol w="8229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5879592">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tblGrid>
              <a:tr h="438912">
                <a:tc>
                  <a:txBody>
                    <a:bodyPr/>
                    <a:lstStyle/>
                    <a:p>
                      <a:pPr marL="0" indent="0">
                        <a:buNone/>
                      </a:pPr>
                      <a:r>
                        <a:rPr lang="en-US" sz="1400" b="1" dirty="0">
                          <a:solidFill>
                            <a:schemeClr val="bg1"/>
                          </a:solidFill>
                        </a:rPr>
                        <a:t>Rama</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Configuración</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Valores fuera de límite</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Estado</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38912">
                <a:tc>
                  <a:txBody>
                    <a:bodyPr/>
                    <a:lstStyle/>
                    <a:p>
                      <a:pPr marL="0" indent="0">
                        <a:buNone/>
                      </a:pPr>
                      <a:r>
                        <a:rPr lang="en-US" sz="1400" dirty="0">
                          <a:solidFill>
                            <a:schemeClr val="tx1"/>
                          </a:solidFill>
                        </a:rPr>
                        <a:t>1</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frente · arriba · q5+</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ninguno: q = (−21.80, 9.63, 47.13, 0, 33.24, 158.20)°</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ELEGIDA</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38912">
                <a:tc>
                  <a:txBody>
                    <a:bodyPr/>
                    <a:lstStyle/>
                    <a:p>
                      <a:pPr marL="0" indent="0">
                        <a:buNone/>
                      </a:pPr>
                      <a:r>
                        <a:rPr lang="en-US" sz="1400" dirty="0">
                          <a:solidFill>
                            <a:schemeClr val="tx1"/>
                          </a:solidFill>
                        </a:rPr>
                        <a:t>2</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frente · arriba · q5−</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q4 = −180° (±160)</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descartada</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38912">
                <a:tc>
                  <a:txBody>
                    <a:bodyPr/>
                    <a:lstStyle/>
                    <a:p>
                      <a:pPr marL="0" indent="0">
                        <a:buNone/>
                      </a:pPr>
                      <a:r>
                        <a:rPr lang="en-US" sz="1400" dirty="0">
                          <a:solidFill>
                            <a:schemeClr val="tx1"/>
                          </a:solidFill>
                        </a:rPr>
                        <a:t>3</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frente · abajo · q5+</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q2 = 148.5°, q3 = 159.0°, q5 = 142.5°</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descartada</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38912">
                <a:tc>
                  <a:txBody>
                    <a:bodyPr/>
                    <a:lstStyle/>
                    <a:p>
                      <a:pPr marL="0" indent="0">
                        <a:buNone/>
                      </a:pPr>
                      <a:r>
                        <a:rPr lang="en-US" sz="1400" dirty="0">
                          <a:solidFill>
                            <a:schemeClr val="tx1"/>
                          </a:solidFill>
                        </a:rPr>
                        <a:t>4</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frente · abajo · q5−</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q2, q3, q4 = −180°, q5</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descartada</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38912">
                <a:tc>
                  <a:txBody>
                    <a:bodyPr/>
                    <a:lstStyle/>
                    <a:p>
                      <a:pPr marL="0" indent="0">
                        <a:buNone/>
                      </a:pPr>
                      <a:r>
                        <a:rPr lang="en-US" sz="1400" dirty="0">
                          <a:solidFill>
                            <a:schemeClr val="tx1"/>
                          </a:solidFill>
                        </a:rPr>
                        <a:t>5</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espaldas · arriba · q5+</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q3 = 159.0° (&gt; 70), q4 = −180°</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descartada</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38912">
                <a:tc>
                  <a:txBody>
                    <a:bodyPr/>
                    <a:lstStyle/>
                    <a:p>
                      <a:pPr marL="0" indent="0">
                        <a:buNone/>
                      </a:pPr>
                      <a:r>
                        <a:rPr lang="en-US" sz="1400" dirty="0">
                          <a:solidFill>
                            <a:schemeClr val="tx1"/>
                          </a:solidFill>
                        </a:rPr>
                        <a:t>6</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espaldas · arriba · q5−</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q3 = 159.0° (&gt; 70)</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descartada</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438912">
                <a:tc>
                  <a:txBody>
                    <a:bodyPr/>
                    <a:lstStyle/>
                    <a:p>
                      <a:pPr marL="0" indent="0">
                        <a:buNone/>
                      </a:pPr>
                      <a:r>
                        <a:rPr lang="en-US" sz="1400" dirty="0">
                          <a:solidFill>
                            <a:schemeClr val="tx1"/>
                          </a:solidFill>
                        </a:rPr>
                        <a:t>7</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espaldas · abajo · q5+</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q2 = −148.5°, …</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descartada</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r h="438912">
                <a:tc>
                  <a:txBody>
                    <a:bodyPr/>
                    <a:lstStyle/>
                    <a:p>
                      <a:pPr marL="0" indent="0">
                        <a:buNone/>
                      </a:pPr>
                      <a:r>
                        <a:rPr lang="en-US" sz="1400" dirty="0">
                          <a:solidFill>
                            <a:schemeClr val="tx1"/>
                          </a:solidFill>
                        </a:rPr>
                        <a:t>8</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espaldas · abajo · q5−</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q2 = −148.5°, …</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descartada</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8"/>
                  </a:ext>
                </a:extLst>
              </a:tr>
            </a:tbl>
          </a:graphicData>
        </a:graphic>
      </p:graphicFrame>
      <p:sp>
        <p:nvSpPr>
          <p:cNvPr id="5" name="pie-96"/>
          <p:cNvSpPr txBox="1"/>
          <p:nvPr/>
        </p:nvSpPr>
        <p:spPr>
          <a:xfrm>
            <a:off x="548640" y="5897880"/>
            <a:ext cx="11091672" cy="320040"/>
          </a:xfrm>
          <a:prstGeom prst="rect">
            <a:avLst/>
          </a:prstGeom>
          <a:noFill/>
          <a:ln/>
        </p:spPr>
        <p:txBody>
          <a:bodyPr wrap="square" lIns="0" tIns="0" rIns="0" bIns="0" rtlCol="0" anchor="ctr"/>
          <a:lstStyle/>
          <a:p>
            <a:pPr marL="0" indent="0">
              <a:buNone/>
            </a:pPr>
            <a:r>
              <a:rPr lang="en-US" sz="1200" dirty="0">
                <a:solidFill>
                  <a:schemeClr val="accent3"/>
                </a:solidFill>
              </a:rPr>
              <a:t>Fuente: notebook, celda 27 · W07 diap. 10 paso 7 (enumeración de ramas) · G2 §3.1</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insignia-97"/>
          <p:cNvSpPr/>
          <p:nvPr/>
        </p:nvSpPr>
        <p:spPr>
          <a:xfrm>
            <a:off x="822960" y="2331720"/>
            <a:ext cx="1234440" cy="1234440"/>
          </a:xfrm>
          <a:prstGeom prst="ellipse">
            <a:avLst/>
          </a:prstGeom>
          <a:solidFill>
            <a:schemeClr val="accent1"/>
          </a:solidFill>
          <a:ln w="12700">
            <a:solidFill>
              <a:schemeClr val="accent1"/>
            </a:solidFill>
            <a:prstDash val="solid"/>
          </a:ln>
        </p:spPr>
      </p:sp>
      <p:sp>
        <p:nvSpPr>
          <p:cNvPr id="3" name="numero-98"/>
          <p:cNvSpPr txBox="1"/>
          <p:nvPr/>
        </p:nvSpPr>
        <p:spPr>
          <a:xfrm>
            <a:off x="822960" y="2331720"/>
            <a:ext cx="1234440" cy="1234440"/>
          </a:xfrm>
          <a:prstGeom prst="rect">
            <a:avLst/>
          </a:prstGeom>
          <a:noFill/>
          <a:ln/>
        </p:spPr>
        <p:txBody>
          <a:bodyPr wrap="square" lIns="0" tIns="0" rIns="0" bIns="0" rtlCol="0" anchor="ctr"/>
          <a:lstStyle/>
          <a:p>
            <a:pPr marL="0" indent="0" algn="ctr">
              <a:buNone/>
            </a:pPr>
            <a:r>
              <a:rPr lang="en-US" sz="4000" b="1" dirty="0">
                <a:solidFill>
                  <a:schemeClr val="bg1"/>
                </a:solidFill>
                <a:latin typeface="Cambria" pitchFamily="34" charset="0"/>
                <a:ea typeface="Cambria" pitchFamily="34" charset="-122"/>
                <a:cs typeface="Cambria" pitchFamily="34" charset="-120"/>
              </a:rPr>
              <a:t>3</a:t>
            </a:r>
            <a:endParaRPr lang="en-US" sz="4000" dirty="0"/>
          </a:p>
        </p:txBody>
      </p:sp>
      <p:sp>
        <p:nvSpPr>
          <p:cNvPr id="4" name="Text 0"/>
          <p:cNvSpPr>
            <a:spLocks noGrp="1"/>
          </p:cNvSpPr>
          <p:nvPr>
            <p:ph type="title" idx="100" hasCustomPrompt="1"/>
          </p:nvPr>
        </p:nvSpPr>
        <p:spPr>
          <a:xfrm>
            <a:off x="2377440" y="2377440"/>
            <a:ext cx="9052560" cy="1097280"/>
          </a:xfrm>
          <a:prstGeom prst="rect">
            <a:avLst/>
          </a:prstGeom>
          <a:noFill/>
          <a:ln/>
        </p:spPr>
        <p:txBody>
          <a:bodyPr wrap="square" rtlCol="0" anchor="ctr"/>
          <a:lstStyle/>
          <a:p>
            <a:pPr marL="0" indent="0" algn="l">
              <a:buNone/>
            </a:pPr>
            <a:r>
              <a:rPr lang="en-US" sz="4000" b="1" dirty="0">
                <a:solidFill>
                  <a:schemeClr val="bg1"/>
                </a:solidFill>
                <a:latin typeface="Cambria" pitchFamily="34" charset="0"/>
                <a:ea typeface="Cambria" pitchFamily="34" charset="-122"/>
                <a:cs typeface="Cambria" pitchFamily="34" charset="-120"/>
              </a:rPr>
              <a:t>Validación por FK y selección de q_f</a:t>
            </a:r>
            <a:endParaRPr lang="en-US" sz="4000" dirty="0"/>
          </a:p>
        </p:txBody>
      </p:sp>
      <p:sp>
        <p:nvSpPr>
          <p:cNvPr id="5" name="Text 0"/>
          <p:cNvSpPr>
            <a:spLocks noGrp="1"/>
          </p:cNvSpPr>
          <p:nvPr>
            <p:ph type="body" idx="101" hasCustomPrompt="1"/>
          </p:nvPr>
        </p:nvSpPr>
        <p:spPr>
          <a:xfrm>
            <a:off x="2377440" y="3474720"/>
            <a:ext cx="9052560" cy="1280160"/>
          </a:xfrm>
          <a:prstGeom prst="rect">
            <a:avLst/>
          </a:prstGeom>
          <a:noFill/>
          <a:ln/>
        </p:spPr>
        <p:txBody>
          <a:bodyPr wrap="square" rtlCol="0" anchor="t"/>
          <a:lstStyle/>
          <a:p>
            <a:pPr marL="0" indent="0">
              <a:buNone/>
            </a:pPr>
            <a:r>
              <a:rPr lang="en-US" sz="1800" dirty="0">
                <a:solidFill>
                  <a:schemeClr val="bg2"/>
                </a:solidFill>
              </a:rPr>
              <a:t>Primero: ¿la rama es correcta? Después: ¿cuál de las correctas uso?</a:t>
            </a:r>
            <a:endParaRPr lang="en-US" sz="1800" dirty="0"/>
          </a:p>
          <a:p>
            <a:pPr marL="0" indent="0">
              <a:buNone/>
            </a:pPr>
            <a:r>
              <a:rPr lang="en-US" sz="1800" dirty="0">
                <a:solidFill>
                  <a:schemeClr val="bg2"/>
                </a:solidFill>
              </a:rPr>
              <a:t>pieper.errores_pose · seleccion_ramas.py · celdas 20–28</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Cada rama vuelve a la FK y se compara la pose completa</a:t>
            </a:r>
            <a:endParaRPr lang="en-US" sz="3000" dirty="0"/>
          </a:p>
        </p:txBody>
      </p:sp>
      <p:sp>
        <p:nvSpPr>
          <p:cNvPr id="4" name="caja-ecuaciones-99"/>
          <p:cNvSpPr/>
          <p:nvPr/>
        </p:nvSpPr>
        <p:spPr>
          <a:xfrm>
            <a:off x="548640" y="1280160"/>
            <a:ext cx="11091672" cy="828155"/>
          </a:xfrm>
          <a:prstGeom prst="roundRect">
            <a:avLst>
              <a:gd name="adj" fmla="val 8833"/>
            </a:avLst>
          </a:prstGeom>
          <a:solidFill>
            <a:schemeClr val="bg2"/>
          </a:solidFill>
          <a:ln w="12700">
            <a:solidFill>
              <a:schemeClr val="bg2"/>
            </a:solidFill>
            <a:prstDash val="solid"/>
          </a:ln>
        </p:spPr>
      </p:sp>
      <p:pic>
        <p:nvPicPr>
          <p:cNvPr id="5" name="ecuacion-err-100" descr="/tmp/claude-0/deck/eq/err.png"/>
          <p:cNvPicPr>
            <a:picLocks noChangeAspect="1"/>
          </p:cNvPicPr>
          <p:nvPr/>
        </p:nvPicPr>
        <p:blipFill>
          <a:blip r:embed="rId3"/>
          <a:stretch>
            <a:fillRect/>
          </a:stretch>
        </p:blipFill>
        <p:spPr>
          <a:xfrm>
            <a:off x="777240" y="1508760"/>
            <a:ext cx="8857003" cy="370955"/>
          </a:xfrm>
          <a:prstGeom prst="rect">
            <a:avLst/>
          </a:prstGeom>
        </p:spPr>
      </p:pic>
      <p:sp>
        <p:nvSpPr>
          <p:cNvPr id="6" name="dato-101"/>
          <p:cNvSpPr txBox="1"/>
          <p:nvPr/>
        </p:nvSpPr>
        <p:spPr>
          <a:xfrm>
            <a:off x="548640" y="2240280"/>
            <a:ext cx="2651760" cy="731520"/>
          </a:xfrm>
          <a:prstGeom prst="rect">
            <a:avLst/>
          </a:prstGeom>
          <a:noFill/>
          <a:ln/>
        </p:spPr>
        <p:txBody>
          <a:bodyPr wrap="square" lIns="0" tIns="0" rIns="0" bIns="0" rtlCol="0" anchor="ctr"/>
          <a:lstStyle/>
          <a:p>
            <a:pPr marL="0" indent="0">
              <a:buNone/>
            </a:pPr>
            <a:r>
              <a:rPr lang="en-US" sz="3000" b="1" dirty="0">
                <a:solidFill>
                  <a:schemeClr val="accent2"/>
                </a:solidFill>
                <a:latin typeface="Cambria" pitchFamily="34" charset="0"/>
                <a:ea typeface="Cambria" pitchFamily="34" charset="-122"/>
                <a:cs typeface="Cambria" pitchFamily="34" charset="-120"/>
              </a:rPr>
              <a:t>8 / 8</a:t>
            </a:r>
            <a:endParaRPr lang="en-US" sz="3000" dirty="0"/>
          </a:p>
        </p:txBody>
      </p:sp>
      <p:sp>
        <p:nvSpPr>
          <p:cNvPr id="7" name="etiqueta-102"/>
          <p:cNvSpPr txBox="1"/>
          <p:nvPr/>
        </p:nvSpPr>
        <p:spPr>
          <a:xfrm>
            <a:off x="548640" y="2971800"/>
            <a:ext cx="2651760" cy="365760"/>
          </a:xfrm>
          <a:prstGeom prst="rect">
            <a:avLst/>
          </a:prstGeom>
          <a:noFill/>
          <a:ln/>
        </p:spPr>
        <p:txBody>
          <a:bodyPr wrap="square" lIns="0" tIns="0" rIns="0" bIns="0" rtlCol="0" anchor="ctr"/>
          <a:lstStyle/>
          <a:p>
            <a:pPr marL="0" indent="0">
              <a:buNone/>
            </a:pPr>
            <a:r>
              <a:rPr lang="en-US" sz="1400" dirty="0">
                <a:solidFill>
                  <a:schemeClr val="tx1"/>
                </a:solidFill>
              </a:rPr>
              <a:t>ramas de T_d pasan la FK</a:t>
            </a:r>
            <a:endParaRPr lang="en-US" sz="1400" dirty="0"/>
          </a:p>
        </p:txBody>
      </p:sp>
      <p:sp>
        <p:nvSpPr>
          <p:cNvPr id="8" name="dato-103"/>
          <p:cNvSpPr txBox="1"/>
          <p:nvPr/>
        </p:nvSpPr>
        <p:spPr>
          <a:xfrm>
            <a:off x="3364992" y="2240280"/>
            <a:ext cx="2651760" cy="731520"/>
          </a:xfrm>
          <a:prstGeom prst="rect">
            <a:avLst/>
          </a:prstGeom>
          <a:noFill/>
          <a:ln/>
        </p:spPr>
        <p:txBody>
          <a:bodyPr wrap="square" lIns="0" tIns="0" rIns="0" bIns="0" rtlCol="0" anchor="ctr"/>
          <a:lstStyle/>
          <a:p>
            <a:pPr marL="0" indent="0">
              <a:buNone/>
            </a:pPr>
            <a:r>
              <a:rPr lang="en-US" sz="3000" b="1" dirty="0">
                <a:solidFill>
                  <a:schemeClr val="accent2"/>
                </a:solidFill>
                <a:latin typeface="Cambria" pitchFamily="34" charset="0"/>
                <a:ea typeface="Cambria" pitchFamily="34" charset="-122"/>
                <a:cs typeface="Cambria" pitchFamily="34" charset="-120"/>
              </a:rPr>
              <a:t>≤ 1.7·10⁻¹⁶ m</a:t>
            </a:r>
            <a:endParaRPr lang="en-US" sz="3000" dirty="0"/>
          </a:p>
        </p:txBody>
      </p:sp>
      <p:sp>
        <p:nvSpPr>
          <p:cNvPr id="9" name="etiqueta-104"/>
          <p:cNvSpPr txBox="1"/>
          <p:nvPr/>
        </p:nvSpPr>
        <p:spPr>
          <a:xfrm>
            <a:off x="3364992" y="2971800"/>
            <a:ext cx="2651760" cy="365760"/>
          </a:xfrm>
          <a:prstGeom prst="rect">
            <a:avLst/>
          </a:prstGeom>
          <a:noFill/>
          <a:ln/>
        </p:spPr>
        <p:txBody>
          <a:bodyPr wrap="square" lIns="0" tIns="0" rIns="0" bIns="0" rtlCol="0" anchor="ctr"/>
          <a:lstStyle/>
          <a:p>
            <a:pPr marL="0" indent="0">
              <a:buNone/>
            </a:pPr>
            <a:r>
              <a:rPr lang="en-US" sz="1400" dirty="0">
                <a:solidFill>
                  <a:schemeClr val="tx1"/>
                </a:solidFill>
              </a:rPr>
              <a:t>error de posición</a:t>
            </a:r>
            <a:endParaRPr lang="en-US" sz="1400" dirty="0"/>
          </a:p>
        </p:txBody>
      </p:sp>
      <p:sp>
        <p:nvSpPr>
          <p:cNvPr id="10" name="dato-105"/>
          <p:cNvSpPr txBox="1"/>
          <p:nvPr/>
        </p:nvSpPr>
        <p:spPr>
          <a:xfrm>
            <a:off x="6181344" y="2240280"/>
            <a:ext cx="2651760" cy="731520"/>
          </a:xfrm>
          <a:prstGeom prst="rect">
            <a:avLst/>
          </a:prstGeom>
          <a:noFill/>
          <a:ln/>
        </p:spPr>
        <p:txBody>
          <a:bodyPr wrap="square" lIns="0" tIns="0" rIns="0" bIns="0" rtlCol="0" anchor="ctr"/>
          <a:lstStyle/>
          <a:p>
            <a:pPr marL="0" indent="0">
              <a:buNone/>
            </a:pPr>
            <a:r>
              <a:rPr lang="en-US" sz="3000" b="1" dirty="0">
                <a:solidFill>
                  <a:schemeClr val="accent2"/>
                </a:solidFill>
                <a:latin typeface="Cambria" pitchFamily="34" charset="0"/>
                <a:ea typeface="Cambria" pitchFamily="34" charset="-122"/>
                <a:cs typeface="Cambria" pitchFamily="34" charset="-120"/>
              </a:rPr>
              <a:t>≤ 6.1·10⁻¹⁶ rad</a:t>
            </a:r>
            <a:endParaRPr lang="en-US" sz="3000" dirty="0"/>
          </a:p>
        </p:txBody>
      </p:sp>
      <p:sp>
        <p:nvSpPr>
          <p:cNvPr id="11" name="etiqueta-106"/>
          <p:cNvSpPr txBox="1"/>
          <p:nvPr/>
        </p:nvSpPr>
        <p:spPr>
          <a:xfrm>
            <a:off x="6181344" y="2971800"/>
            <a:ext cx="2651760" cy="365760"/>
          </a:xfrm>
          <a:prstGeom prst="rect">
            <a:avLst/>
          </a:prstGeom>
          <a:noFill/>
          <a:ln/>
        </p:spPr>
        <p:txBody>
          <a:bodyPr wrap="square" lIns="0" tIns="0" rIns="0" bIns="0" rtlCol="0" anchor="ctr"/>
          <a:lstStyle/>
          <a:p>
            <a:pPr marL="0" indent="0">
              <a:buNone/>
            </a:pPr>
            <a:r>
              <a:rPr lang="en-US" sz="1400" dirty="0">
                <a:solidFill>
                  <a:schemeClr val="tx1"/>
                </a:solidFill>
              </a:rPr>
              <a:t>error de orientación</a:t>
            </a:r>
            <a:endParaRPr lang="en-US" sz="1400" dirty="0"/>
          </a:p>
        </p:txBody>
      </p:sp>
      <p:sp>
        <p:nvSpPr>
          <p:cNvPr id="12" name="dato-107"/>
          <p:cNvSpPr txBox="1"/>
          <p:nvPr/>
        </p:nvSpPr>
        <p:spPr>
          <a:xfrm>
            <a:off x="8997696" y="2240280"/>
            <a:ext cx="2651760" cy="731520"/>
          </a:xfrm>
          <a:prstGeom prst="rect">
            <a:avLst/>
          </a:prstGeom>
          <a:noFill/>
          <a:ln/>
        </p:spPr>
        <p:txBody>
          <a:bodyPr wrap="square" lIns="0" tIns="0" rIns="0" bIns="0" rtlCol="0" anchor="ctr"/>
          <a:lstStyle/>
          <a:p>
            <a:pPr marL="0" indent="0">
              <a:buNone/>
            </a:pPr>
            <a:r>
              <a:rPr lang="en-US" sz="3000" b="1" dirty="0">
                <a:solidFill>
                  <a:schemeClr val="accent2"/>
                </a:solidFill>
                <a:latin typeface="Cambria" pitchFamily="34" charset="0"/>
                <a:ea typeface="Cambria" pitchFamily="34" charset="-122"/>
                <a:cs typeface="Cambria" pitchFamily="34" charset="-120"/>
              </a:rPr>
              <a:t>1000 / 1000</a:t>
            </a:r>
            <a:endParaRPr lang="en-US" sz="3000" dirty="0"/>
          </a:p>
        </p:txBody>
      </p:sp>
      <p:sp>
        <p:nvSpPr>
          <p:cNvPr id="13" name="etiqueta-108"/>
          <p:cNvSpPr txBox="1"/>
          <p:nvPr/>
        </p:nvSpPr>
        <p:spPr>
          <a:xfrm>
            <a:off x="8997696" y="2971800"/>
            <a:ext cx="2651760" cy="365760"/>
          </a:xfrm>
          <a:prstGeom prst="rect">
            <a:avLst/>
          </a:prstGeom>
          <a:noFill/>
          <a:ln/>
        </p:spPr>
        <p:txBody>
          <a:bodyPr wrap="square" lIns="0" tIns="0" rIns="0" bIns="0" rtlCol="0" anchor="ctr"/>
          <a:lstStyle/>
          <a:p>
            <a:pPr marL="0" indent="0">
              <a:buNone/>
            </a:pPr>
            <a:r>
              <a:rPr lang="en-US" sz="1400" dirty="0">
                <a:solidFill>
                  <a:schemeClr val="tx1"/>
                </a:solidFill>
              </a:rPr>
              <a:t>q aleatorios recuperados</a:t>
            </a:r>
            <a:endParaRPr lang="en-US" sz="1400" dirty="0"/>
          </a:p>
        </p:txBody>
      </p:sp>
      <p:sp>
        <p:nvSpPr>
          <p:cNvPr id="14" name="decision-109"/>
          <p:cNvSpPr/>
          <p:nvPr/>
        </p:nvSpPr>
        <p:spPr>
          <a:xfrm>
            <a:off x="548640" y="3749040"/>
            <a:ext cx="11091672" cy="685800"/>
          </a:xfrm>
          <a:prstGeom prst="roundRect">
            <a:avLst>
              <a:gd name="adj" fmla="val 10667"/>
            </a:avLst>
          </a:prstGeom>
          <a:solidFill>
            <a:schemeClr val="bg1"/>
          </a:solidFill>
          <a:ln w="19050">
            <a:solidFill>
              <a:schemeClr val="accent1"/>
            </a:solidFill>
            <a:prstDash val="solid"/>
          </a:ln>
        </p:spPr>
      </p:sp>
      <p:sp>
        <p:nvSpPr>
          <p:cNvPr id="15" name="texto-decision-110"/>
          <p:cNvSpPr txBox="1"/>
          <p:nvPr/>
        </p:nvSpPr>
        <p:spPr>
          <a:xfrm>
            <a:off x="731520" y="3822192"/>
            <a:ext cx="10725912" cy="539496"/>
          </a:xfrm>
          <a:prstGeom prst="rect">
            <a:avLst/>
          </a:prstGeom>
          <a:noFill/>
          <a:ln/>
        </p:spPr>
        <p:txBody>
          <a:bodyPr wrap="square" lIns="0" tIns="0" rIns="0" bIns="0" rtlCol="0" anchor="ctr"/>
          <a:lstStyle/>
          <a:p>
            <a:pPr marL="0" indent="0">
              <a:buNone/>
            </a:pPr>
            <a:r>
              <a:rPr lang="en-US" sz="1200" b="1" dirty="0">
                <a:solidFill>
                  <a:schemeClr val="accent1"/>
                </a:solidFill>
              </a:rPr>
              <a:t>DECISIÓN DEL GRUPO  </a:t>
            </a:r>
            <a:r>
              <a:rPr lang="en-US" sz="1300" dirty="0">
                <a:solidFill>
                  <a:schemeClr val="tx1"/>
                </a:solidFill>
              </a:rPr>
              <a:t>Tolerancia 1 µm y 1 µrad con error geodésico · prueba de ida y vuelta con 1000 configuraciones aleatorias (celda 23)</a:t>
            </a:r>
            <a:endParaRPr lang="en-US" sz="1200" dirty="0"/>
          </a:p>
        </p:txBody>
      </p:sp>
      <p:sp>
        <p:nvSpPr>
          <p:cNvPr id="16" name="tarjeta-CÓDIGO-111"/>
          <p:cNvSpPr/>
          <p:nvPr/>
        </p:nvSpPr>
        <p:spPr>
          <a:xfrm>
            <a:off x="548640" y="5074920"/>
            <a:ext cx="5394960" cy="1143000"/>
          </a:xfrm>
          <a:prstGeom prst="roundRect">
            <a:avLst>
              <a:gd name="adj" fmla="val 6400"/>
            </a:avLst>
          </a:prstGeom>
          <a:solidFill>
            <a:schemeClr val="accent5"/>
          </a:solidFill>
          <a:ln w="12700">
            <a:solidFill>
              <a:schemeClr val="accent5"/>
            </a:solidFill>
            <a:prstDash val="solid"/>
          </a:ln>
        </p:spPr>
      </p:sp>
      <p:sp>
        <p:nvSpPr>
          <p:cNvPr id="17" name="texto-CÓDIGO-112"/>
          <p:cNvSpPr txBox="1"/>
          <p:nvPr/>
        </p:nvSpPr>
        <p:spPr>
          <a:xfrm>
            <a:off x="731520" y="5184648"/>
            <a:ext cx="5029200" cy="9235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CÓDIGO</a:t>
            </a:r>
            <a:endParaRPr lang="en-US" sz="1200" dirty="0"/>
          </a:p>
          <a:p>
            <a:pPr marL="0" indent="0">
              <a:spcAft>
                <a:spcPts val="200"/>
              </a:spcAft>
              <a:buNone/>
            </a:pPr>
            <a:r>
              <a:rPr lang="en-US" sz="1300" dirty="0">
                <a:solidFill>
                  <a:schemeClr val="tx1"/>
                </a:solidFill>
              </a:rPr>
              <a:t>pieper.py:127 errores_pose · :33–34 TOL_POS_M, TOL_ROT_RAD · :148 llamada con m.fk(q) · :119 valida_fk</a:t>
            </a:r>
            <a:endParaRPr lang="en-US" sz="1200" dirty="0"/>
          </a:p>
        </p:txBody>
      </p:sp>
      <p:sp>
        <p:nvSpPr>
          <p:cNvPr id="18" name="tarjeta-FUENTE-113"/>
          <p:cNvSpPr/>
          <p:nvPr/>
        </p:nvSpPr>
        <p:spPr>
          <a:xfrm>
            <a:off x="6217920" y="5074920"/>
            <a:ext cx="5422392" cy="1143000"/>
          </a:xfrm>
          <a:prstGeom prst="roundRect">
            <a:avLst>
              <a:gd name="adj" fmla="val 6400"/>
            </a:avLst>
          </a:prstGeom>
          <a:solidFill>
            <a:schemeClr val="accent4"/>
          </a:solidFill>
          <a:ln w="12700">
            <a:solidFill>
              <a:schemeClr val="accent4"/>
            </a:solidFill>
            <a:prstDash val="solid"/>
          </a:ln>
        </p:spPr>
      </p:sp>
      <p:sp>
        <p:nvSpPr>
          <p:cNvPr id="19" name="texto-FUENTE-114"/>
          <p:cNvSpPr txBox="1"/>
          <p:nvPr/>
        </p:nvSpPr>
        <p:spPr>
          <a:xfrm>
            <a:off x="6400800" y="5184648"/>
            <a:ext cx="5056632" cy="9235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FUENTE</a:t>
            </a:r>
            <a:endParaRPr lang="en-US" sz="1200" dirty="0"/>
          </a:p>
          <a:p>
            <a:pPr marL="0" indent="0">
              <a:spcAft>
                <a:spcPts val="200"/>
              </a:spcAft>
              <a:buNone/>
            </a:pPr>
            <a:r>
              <a:rPr lang="en-US" sz="1300" dirty="0">
                <a:solidFill>
                  <a:schemeClr val="tx1"/>
                </a:solidFill>
              </a:rPr>
              <a:t>W07 diap. 10 paso 9 y diap. 12 · HR paso 8 · G2 §3.1 (T(q) ≈ T_d obligatorio) · rúbrica B · Siciliano §2.5</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Tres filtros de clase y un puntaje del grupo eligen q_f</a:t>
            </a:r>
            <a:endParaRPr lang="en-US" sz="3000" dirty="0"/>
          </a:p>
        </p:txBody>
      </p:sp>
      <p:graphicFrame>
        <p:nvGraphicFramePr>
          <p:cNvPr id="15" name="tabla-115"/>
          <p:cNvGraphicFramePr>
            <a:graphicFrameLocks noGrp="1"/>
          </p:cNvGraphicFramePr>
          <p:nvPr>
            <p:extLst>
              <p:ext uri="{D42A27DB-BD31-4B8C-83A1-F6EECF244321}">
                <p14:modId xmlns:p14="http://schemas.microsoft.com/office/powerpoint/2010/main" val="1579011935"/>
              </p:ext>
            </p:extLst>
          </p:nvPr>
        </p:nvGraphicFramePr>
        <p:xfrm>
          <a:off x="548640" y="1325880"/>
          <a:ext cx="6309360" cy="1536192"/>
        </p:xfrm>
        <a:graphic>
          <a:graphicData uri="http://schemas.openxmlformats.org/drawingml/2006/table">
            <a:tbl>
              <a:tblPr/>
              <a:tblGrid>
                <a:gridCol w="128016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tblGrid>
              <a:tr h="384048">
                <a:tc>
                  <a:txBody>
                    <a:bodyPr/>
                    <a:lstStyle/>
                    <a:p>
                      <a:pPr marL="0" indent="0">
                        <a:buNone/>
                      </a:pPr>
                      <a:r>
                        <a:rPr lang="en-US" sz="1300" b="1" dirty="0">
                          <a:solidFill>
                            <a:schemeClr val="bg1"/>
                          </a:solidFill>
                        </a:rPr>
                        <a:t>Filtro</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Descarta</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Fuente</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chemeClr val="tx1"/>
                          </a:solidFill>
                        </a:rPr>
                        <a:t>F1 real</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|k| &gt; 1 (W fuera de alcance)</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W07 diap. 6 · HR paso 7</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84048">
                <a:tc>
                  <a:txBody>
                    <a:bodyPr/>
                    <a:lstStyle/>
                    <a:p>
                      <a:pPr marL="0" indent="0">
                        <a:buNone/>
                      </a:pPr>
                      <a:r>
                        <a:rPr lang="en-US" sz="1300" dirty="0">
                          <a:solidFill>
                            <a:schemeClr val="tx1"/>
                          </a:solidFill>
                        </a:rPr>
                        <a:t>F2 FK</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e_p ≥ 1 µm o e_R ≥ 1 µrad</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W07 diap. 12 · HR paso 8</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84048">
                <a:tc>
                  <a:txBody>
                    <a:bodyPr/>
                    <a:lstStyle/>
                    <a:p>
                      <a:pPr marL="0" indent="0">
                        <a:buNone/>
                      </a:pPr>
                      <a:r>
                        <a:rPr lang="en-US" sz="1300" dirty="0">
                          <a:solidFill>
                            <a:schemeClr val="tx1"/>
                          </a:solidFill>
                        </a:rPr>
                        <a:t>F3 límites</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alguna q_j fuera del datasheet</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W07 diap. 10 paso 8 · AP hoja 5</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5" name="caja-ecuaciones-116"/>
          <p:cNvSpPr/>
          <p:nvPr/>
        </p:nvSpPr>
        <p:spPr>
          <a:xfrm>
            <a:off x="548640" y="3063240"/>
            <a:ext cx="6309360" cy="775162"/>
          </a:xfrm>
          <a:prstGeom prst="roundRect">
            <a:avLst>
              <a:gd name="adj" fmla="val 9437"/>
            </a:avLst>
          </a:prstGeom>
          <a:solidFill>
            <a:schemeClr val="bg2"/>
          </a:solidFill>
          <a:ln w="12700">
            <a:solidFill>
              <a:schemeClr val="bg2"/>
            </a:solidFill>
            <a:prstDash val="solid"/>
          </a:ln>
        </p:spPr>
      </p:sp>
      <p:pic>
        <p:nvPicPr>
          <p:cNvPr id="6" name="ecuacion-score-117" descr="/tmp/claude-0/deck/eq/score.png"/>
          <p:cNvPicPr>
            <a:picLocks noChangeAspect="1"/>
          </p:cNvPicPr>
          <p:nvPr/>
        </p:nvPicPr>
        <p:blipFill>
          <a:blip r:embed="rId3"/>
          <a:stretch>
            <a:fillRect/>
          </a:stretch>
        </p:blipFill>
        <p:spPr>
          <a:xfrm>
            <a:off x="777240" y="3291840"/>
            <a:ext cx="4713316" cy="317962"/>
          </a:xfrm>
          <a:prstGeom prst="rect">
            <a:avLst/>
          </a:prstGeom>
        </p:spPr>
      </p:pic>
      <p:pic>
        <p:nvPicPr>
          <p:cNvPr id="7" name="figura-118" descr="/tmp/claude-0/deck/P3_seleccion_ramas.png"/>
          <p:cNvPicPr>
            <a:picLocks noChangeAspect="1"/>
          </p:cNvPicPr>
          <p:nvPr/>
        </p:nvPicPr>
        <p:blipFill>
          <a:blip r:embed="rId4"/>
          <a:stretch>
            <a:fillRect/>
          </a:stretch>
        </p:blipFill>
        <p:spPr>
          <a:xfrm>
            <a:off x="7132320" y="1280160"/>
            <a:ext cx="4507992" cy="3120918"/>
          </a:xfrm>
          <a:prstGeom prst="rect">
            <a:avLst/>
          </a:prstGeom>
        </p:spPr>
      </p:pic>
      <p:sp>
        <p:nvSpPr>
          <p:cNvPr id="8" name="decision-119"/>
          <p:cNvSpPr/>
          <p:nvPr/>
        </p:nvSpPr>
        <p:spPr>
          <a:xfrm>
            <a:off x="548640" y="4069080"/>
            <a:ext cx="6309360" cy="868680"/>
          </a:xfrm>
          <a:prstGeom prst="roundRect">
            <a:avLst>
              <a:gd name="adj" fmla="val 8421"/>
            </a:avLst>
          </a:prstGeom>
          <a:solidFill>
            <a:schemeClr val="bg1"/>
          </a:solidFill>
          <a:ln w="19050">
            <a:solidFill>
              <a:schemeClr val="accent1"/>
            </a:solidFill>
            <a:prstDash val="solid"/>
          </a:ln>
        </p:spPr>
      </p:sp>
      <p:sp>
        <p:nvSpPr>
          <p:cNvPr id="9" name="texto-decision-120"/>
          <p:cNvSpPr txBox="1"/>
          <p:nvPr/>
        </p:nvSpPr>
        <p:spPr>
          <a:xfrm>
            <a:off x="731520" y="4142232"/>
            <a:ext cx="5943600" cy="722376"/>
          </a:xfrm>
          <a:prstGeom prst="rect">
            <a:avLst/>
          </a:prstGeom>
          <a:noFill/>
          <a:ln/>
        </p:spPr>
        <p:txBody>
          <a:bodyPr wrap="square" lIns="0" tIns="0" rIns="0" bIns="0" rtlCol="0" anchor="ctr"/>
          <a:lstStyle/>
          <a:p>
            <a:pPr marL="0" indent="0">
              <a:buNone/>
            </a:pPr>
            <a:r>
              <a:rPr lang="en-US" sz="1200" b="1" dirty="0">
                <a:solidFill>
                  <a:schemeClr val="accent1"/>
                </a:solidFill>
              </a:rPr>
              <a:t>DECISIÓN DEL GRUPO  </a:t>
            </a:r>
            <a:r>
              <a:rPr lang="en-US" sz="1300" dirty="0">
                <a:solidFill>
                  <a:schemeClr val="tx1"/>
                </a:solidFill>
              </a:rPr>
              <a:t>Pesos 0.25 / 0.25 / 0.15 / 0.35: criterio de ingeniería del grupo. Para T_d no deciden: solo la rama 1 pasa F3 (60.4 puntos)</a:t>
            </a:r>
            <a:endParaRPr lang="en-US" sz="1200" dirty="0"/>
          </a:p>
        </p:txBody>
      </p:sp>
      <p:sp>
        <p:nvSpPr>
          <p:cNvPr id="10" name="tarjeta-CÓDIGO-121"/>
          <p:cNvSpPr/>
          <p:nvPr/>
        </p:nvSpPr>
        <p:spPr>
          <a:xfrm>
            <a:off x="548640" y="5074920"/>
            <a:ext cx="5394960" cy="1143000"/>
          </a:xfrm>
          <a:prstGeom prst="roundRect">
            <a:avLst>
              <a:gd name="adj" fmla="val 6400"/>
            </a:avLst>
          </a:prstGeom>
          <a:solidFill>
            <a:schemeClr val="accent5"/>
          </a:solidFill>
          <a:ln w="12700">
            <a:solidFill>
              <a:schemeClr val="accent5"/>
            </a:solidFill>
            <a:prstDash val="solid"/>
          </a:ln>
        </p:spPr>
      </p:sp>
      <p:sp>
        <p:nvSpPr>
          <p:cNvPr id="11" name="texto-CÓDIGO-122"/>
          <p:cNvSpPr txBox="1"/>
          <p:nvPr/>
        </p:nvSpPr>
        <p:spPr>
          <a:xfrm>
            <a:off x="731520" y="5184648"/>
            <a:ext cx="5029200" cy="9235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CÓDIGO</a:t>
            </a:r>
            <a:endParaRPr lang="en-US" sz="1200" dirty="0"/>
          </a:p>
          <a:p>
            <a:pPr marL="0" indent="0">
              <a:spcAft>
                <a:spcPts val="200"/>
              </a:spcAft>
              <a:buNone/>
            </a:pPr>
            <a:r>
              <a:rPr lang="en-US" sz="1300" dirty="0">
                <a:solidFill>
                  <a:schemeClr val="tx1"/>
                </a:solidFill>
              </a:rPr>
              <a:t>seleccion_ramas.py:53 razones_descarte · :66 evaluar · :25 PESOS · :40 indices</a:t>
            </a:r>
            <a:endParaRPr lang="en-US" sz="1200" dirty="0"/>
          </a:p>
        </p:txBody>
      </p:sp>
      <p:sp>
        <p:nvSpPr>
          <p:cNvPr id="12" name="tarjeta-FUENTE-123"/>
          <p:cNvSpPr/>
          <p:nvPr/>
        </p:nvSpPr>
        <p:spPr>
          <a:xfrm>
            <a:off x="6217920" y="5074920"/>
            <a:ext cx="5422392" cy="1143000"/>
          </a:xfrm>
          <a:prstGeom prst="roundRect">
            <a:avLst>
              <a:gd name="adj" fmla="val 6400"/>
            </a:avLst>
          </a:prstGeom>
          <a:solidFill>
            <a:schemeClr val="accent4"/>
          </a:solidFill>
          <a:ln w="12700">
            <a:solidFill>
              <a:schemeClr val="accent4"/>
            </a:solidFill>
            <a:prstDash val="solid"/>
          </a:ln>
        </p:spPr>
      </p:sp>
      <p:sp>
        <p:nvSpPr>
          <p:cNvPr id="13" name="texto-FUENTE-124"/>
          <p:cNvSpPr txBox="1"/>
          <p:nvPr/>
        </p:nvSpPr>
        <p:spPr>
          <a:xfrm>
            <a:off x="6400800" y="5184648"/>
            <a:ext cx="5056632" cy="9235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FUENTE</a:t>
            </a:r>
            <a:endParaRPr lang="en-US" sz="1200" dirty="0"/>
          </a:p>
          <a:p>
            <a:pPr marL="0" indent="0">
              <a:spcAft>
                <a:spcPts val="200"/>
              </a:spcAft>
              <a:buNone/>
            </a:pPr>
            <a:r>
              <a:rPr lang="en-US" sz="1300" dirty="0">
                <a:solidFill>
                  <a:schemeClr val="tx1"/>
                </a:solidFill>
              </a:rPr>
              <a:t>Filtros: W07 diap. 6, 10, 12 · HR paso 7–8 · G2 §3.1 (justificar la configuración)</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insignia-125"/>
          <p:cNvSpPr/>
          <p:nvPr/>
        </p:nvSpPr>
        <p:spPr>
          <a:xfrm>
            <a:off x="822960" y="2331720"/>
            <a:ext cx="1234440" cy="1234440"/>
          </a:xfrm>
          <a:prstGeom prst="ellipse">
            <a:avLst/>
          </a:prstGeom>
          <a:solidFill>
            <a:schemeClr val="accent1"/>
          </a:solidFill>
          <a:ln w="12700">
            <a:solidFill>
              <a:schemeClr val="accent1"/>
            </a:solidFill>
            <a:prstDash val="solid"/>
          </a:ln>
        </p:spPr>
      </p:sp>
      <p:sp>
        <p:nvSpPr>
          <p:cNvPr id="3" name="numero-126"/>
          <p:cNvSpPr txBox="1"/>
          <p:nvPr/>
        </p:nvSpPr>
        <p:spPr>
          <a:xfrm>
            <a:off x="822960" y="2331720"/>
            <a:ext cx="1234440" cy="1234440"/>
          </a:xfrm>
          <a:prstGeom prst="rect">
            <a:avLst/>
          </a:prstGeom>
          <a:noFill/>
          <a:ln/>
        </p:spPr>
        <p:txBody>
          <a:bodyPr wrap="square" lIns="0" tIns="0" rIns="0" bIns="0" rtlCol="0" anchor="ctr"/>
          <a:lstStyle/>
          <a:p>
            <a:pPr marL="0" indent="0" algn="ctr">
              <a:buNone/>
            </a:pPr>
            <a:r>
              <a:rPr lang="en-US" sz="4000" b="1" dirty="0">
                <a:solidFill>
                  <a:schemeClr val="bg1"/>
                </a:solidFill>
                <a:latin typeface="Cambria" pitchFamily="34" charset="0"/>
                <a:ea typeface="Cambria" pitchFamily="34" charset="-122"/>
                <a:cs typeface="Cambria" pitchFamily="34" charset="-120"/>
              </a:rPr>
              <a:t>4</a:t>
            </a:r>
            <a:endParaRPr lang="en-US" sz="4000" dirty="0"/>
          </a:p>
        </p:txBody>
      </p:sp>
      <p:sp>
        <p:nvSpPr>
          <p:cNvPr id="4" name="Text 0"/>
          <p:cNvSpPr>
            <a:spLocks noGrp="1"/>
          </p:cNvSpPr>
          <p:nvPr>
            <p:ph type="title" idx="100" hasCustomPrompt="1"/>
          </p:nvPr>
        </p:nvSpPr>
        <p:spPr>
          <a:xfrm>
            <a:off x="2377440" y="2377440"/>
            <a:ext cx="9052560" cy="1097280"/>
          </a:xfrm>
          <a:prstGeom prst="rect">
            <a:avLst/>
          </a:prstGeom>
          <a:noFill/>
          <a:ln/>
        </p:spPr>
        <p:txBody>
          <a:bodyPr wrap="square" rtlCol="0" anchor="ctr"/>
          <a:lstStyle/>
          <a:p>
            <a:pPr marL="0" indent="0" algn="l">
              <a:buNone/>
            </a:pPr>
            <a:r>
              <a:rPr lang="en-US" sz="4000" b="1" dirty="0">
                <a:solidFill>
                  <a:schemeClr val="bg1"/>
                </a:solidFill>
                <a:latin typeface="Cambria" pitchFamily="34" charset="0"/>
                <a:ea typeface="Cambria" pitchFamily="34" charset="-122"/>
                <a:cs typeface="Cambria" pitchFamily="34" charset="-120"/>
              </a:rPr>
              <a:t>Trayectoria LSPB de q_i a q_f</a:t>
            </a:r>
            <a:endParaRPr lang="en-US" sz="4000" dirty="0"/>
          </a:p>
        </p:txBody>
      </p:sp>
      <p:sp>
        <p:nvSpPr>
          <p:cNvPr id="5" name="Text 0"/>
          <p:cNvSpPr>
            <a:spLocks noGrp="1"/>
          </p:cNvSpPr>
          <p:nvPr>
            <p:ph type="body" idx="101" hasCustomPrompt="1"/>
          </p:nvPr>
        </p:nvSpPr>
        <p:spPr>
          <a:xfrm>
            <a:off x="2377440" y="3474720"/>
            <a:ext cx="9052560" cy="1280160"/>
          </a:xfrm>
          <a:prstGeom prst="rect">
            <a:avLst/>
          </a:prstGeom>
          <a:noFill/>
          <a:ln/>
        </p:spPr>
        <p:txBody>
          <a:bodyPr wrap="square" rtlCol="0" anchor="t"/>
          <a:lstStyle/>
          <a:p>
            <a:pPr marL="0" indent="0">
              <a:buNone/>
            </a:pPr>
            <a:r>
              <a:rPr lang="en-US" sz="1800" dirty="0">
                <a:solidFill>
                  <a:schemeClr val="bg2"/>
                </a:solidFill>
              </a:rPr>
              <a:t>Velocidad trapezoidal, reposo en los extremos, las 6 juntas sincronizadas</a:t>
            </a:r>
            <a:endParaRPr lang="en-US" sz="1800" dirty="0"/>
          </a:p>
          <a:p>
            <a:pPr marL="0" indent="0">
              <a:buNone/>
            </a:pPr>
            <a:r>
              <a:rPr lang="en-US" sz="1800" dirty="0">
                <a:solidFill>
                  <a:schemeClr val="bg2"/>
                </a:solidFill>
              </a:rPr>
              <a:t>lspb.py · celdas 29–39</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Tres fases con las ecuaciones exactas de W09-S01</a:t>
            </a:r>
            <a:endParaRPr lang="en-US" sz="3000" dirty="0"/>
          </a:p>
        </p:txBody>
      </p:sp>
      <p:graphicFrame>
        <p:nvGraphicFramePr>
          <p:cNvPr id="17" name="tabla-127"/>
          <p:cNvGraphicFramePr>
            <a:graphicFrameLocks noGrp="1"/>
          </p:cNvGraphicFramePr>
          <p:nvPr>
            <p:extLst>
              <p:ext uri="{D42A27DB-BD31-4B8C-83A1-F6EECF244321}">
                <p14:modId xmlns:p14="http://schemas.microsoft.com/office/powerpoint/2010/main" val="1579011935"/>
              </p:ext>
            </p:extLst>
          </p:nvPr>
        </p:nvGraphicFramePr>
        <p:xfrm>
          <a:off x="548640" y="1325880"/>
          <a:ext cx="6583680" cy="1645920"/>
        </p:xfrm>
        <a:graphic>
          <a:graphicData uri="http://schemas.openxmlformats.org/drawingml/2006/table">
            <a:tbl>
              <a:tblPr/>
              <a:tblGrid>
                <a:gridCol w="219456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411480">
                <a:tc>
                  <a:txBody>
                    <a:bodyPr/>
                    <a:lstStyle/>
                    <a:p>
                      <a:pPr marL="0" indent="0">
                        <a:buNone/>
                      </a:pPr>
                      <a:r>
                        <a:rPr lang="en-US" sz="1300" b="1" dirty="0">
                          <a:solidFill>
                            <a:schemeClr val="bg1"/>
                          </a:solidFill>
                        </a:rPr>
                        <a:t>Fase</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q(t)</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q̇(t)</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q̈(t)</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11480">
                <a:tc>
                  <a:txBody>
                    <a:bodyPr/>
                    <a:lstStyle/>
                    <a:p>
                      <a:pPr marL="0" indent="0">
                        <a:buNone/>
                      </a:pPr>
                      <a:r>
                        <a:rPr lang="en-US" sz="1300" dirty="0">
                          <a:solidFill>
                            <a:schemeClr val="tx1"/>
                          </a:solidFill>
                        </a:rPr>
                        <a:t>Aceleración 0 ≤ t ≤ t_c</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q_i + ½ q̈c t²</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q̈c t</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q̈c</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1480">
                <a:tc>
                  <a:txBody>
                    <a:bodyPr/>
                    <a:lstStyle/>
                    <a:p>
                      <a:pPr marL="0" indent="0">
                        <a:buNone/>
                      </a:pPr>
                      <a:r>
                        <a:rPr lang="en-US" sz="1300" dirty="0">
                          <a:solidFill>
                            <a:schemeClr val="tx1"/>
                          </a:solidFill>
                        </a:rPr>
                        <a:t>Vel. constante</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q_i + q̇c (t − t_c/2)</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q̇c = q̈c t_c</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11480">
                <a:tc>
                  <a:txBody>
                    <a:bodyPr/>
                    <a:lstStyle/>
                    <a:p>
                      <a:pPr marL="0" indent="0">
                        <a:buNone/>
                      </a:pPr>
                      <a:r>
                        <a:rPr lang="en-US" sz="1300" dirty="0">
                          <a:solidFill>
                            <a:schemeClr val="tx1"/>
                          </a:solidFill>
                        </a:rPr>
                        <a:t>Desaceleración</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q_f − ½ q̈c (t_f − t)²</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q̈c (t_f − t)</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−q̈c</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5" name="caja-ecuaciones-128"/>
          <p:cNvSpPr/>
          <p:nvPr/>
        </p:nvSpPr>
        <p:spPr>
          <a:xfrm>
            <a:off x="548640" y="3200400"/>
            <a:ext cx="6583680" cy="1559468"/>
          </a:xfrm>
          <a:prstGeom prst="roundRect">
            <a:avLst>
              <a:gd name="adj" fmla="val 4691"/>
            </a:avLst>
          </a:prstGeom>
          <a:solidFill>
            <a:schemeClr val="bg2"/>
          </a:solidFill>
          <a:ln w="12700">
            <a:solidFill>
              <a:schemeClr val="bg2"/>
            </a:solidFill>
            <a:prstDash val="solid"/>
          </a:ln>
        </p:spPr>
      </p:sp>
      <p:pic>
        <p:nvPicPr>
          <p:cNvPr id="6" name="ecuacion-tc-129" descr="/tmp/claude-0/deck/eq/tc.png"/>
          <p:cNvPicPr>
            <a:picLocks noChangeAspect="1"/>
          </p:cNvPicPr>
          <p:nvPr/>
        </p:nvPicPr>
        <p:blipFill>
          <a:blip r:embed="rId3"/>
          <a:stretch>
            <a:fillRect/>
          </a:stretch>
        </p:blipFill>
        <p:spPr>
          <a:xfrm>
            <a:off x="777240" y="3429000"/>
            <a:ext cx="4169664" cy="561940"/>
          </a:xfrm>
          <a:prstGeom prst="rect">
            <a:avLst/>
          </a:prstGeom>
        </p:spPr>
      </p:pic>
      <p:pic>
        <p:nvPicPr>
          <p:cNvPr id="7" name="ecuacion-D-130" descr="/tmp/claude-0/deck/eq/D.png"/>
          <p:cNvPicPr>
            <a:picLocks noChangeAspect="1"/>
          </p:cNvPicPr>
          <p:nvPr/>
        </p:nvPicPr>
        <p:blipFill>
          <a:blip r:embed="rId4"/>
          <a:stretch>
            <a:fillRect/>
          </a:stretch>
        </p:blipFill>
        <p:spPr>
          <a:xfrm>
            <a:off x="777240" y="4192108"/>
            <a:ext cx="4232841" cy="339159"/>
          </a:xfrm>
          <a:prstGeom prst="rect">
            <a:avLst/>
          </a:prstGeom>
        </p:spPr>
      </p:pic>
      <p:sp>
        <p:nvSpPr>
          <p:cNvPr id="8" name="tarjeta-VALIDACIÓN CONTRA CLASE-131"/>
          <p:cNvSpPr/>
          <p:nvPr/>
        </p:nvSpPr>
        <p:spPr>
          <a:xfrm>
            <a:off x="7406640" y="1325880"/>
            <a:ext cx="4233672" cy="1828800"/>
          </a:xfrm>
          <a:prstGeom prst="roundRect">
            <a:avLst>
              <a:gd name="adj" fmla="val 4000"/>
            </a:avLst>
          </a:prstGeom>
          <a:solidFill>
            <a:schemeClr val="bg2"/>
          </a:solidFill>
          <a:ln w="12700">
            <a:solidFill>
              <a:schemeClr val="bg2"/>
            </a:solidFill>
            <a:prstDash val="solid"/>
          </a:ln>
        </p:spPr>
      </p:sp>
      <p:sp>
        <p:nvSpPr>
          <p:cNvPr id="9" name="texto-VALIDACIÓN CONTRA CLASE-132"/>
          <p:cNvSpPr txBox="1"/>
          <p:nvPr/>
        </p:nvSpPr>
        <p:spPr>
          <a:xfrm>
            <a:off x="7589520" y="1435608"/>
            <a:ext cx="3867912" cy="16093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VALIDACIÓN CONTRA CLASE</a:t>
            </a:r>
            <a:endParaRPr lang="en-US" sz="1200" dirty="0"/>
          </a:p>
          <a:p>
            <a:pPr marL="0" indent="0">
              <a:spcAft>
                <a:spcPts val="200"/>
              </a:spcAft>
              <a:buNone/>
            </a:pPr>
            <a:r>
              <a:rPr lang="en-US" sz="1300" dirty="0">
                <a:solidFill>
                  <a:schemeClr val="tx1"/>
                </a:solidFill>
              </a:rPr>
              <a:t>Ejemplo guiado W09a diap. 10: q_i = 0, q_f = 2 rad, t_f = 3 s, q̈c = 1 rad/s²</a:t>
            </a:r>
            <a:endParaRPr lang="en-US" sz="1200" dirty="0"/>
          </a:p>
          <a:p>
            <a:pPr marL="0" indent="0">
              <a:spcAft>
                <a:spcPts val="200"/>
              </a:spcAft>
              <a:buNone/>
            </a:pPr>
            <a:r>
              <a:rPr lang="en-US" sz="1300" dirty="0">
                <a:solidFill>
                  <a:schemeClr val="tx1"/>
                </a:solidFill>
              </a:rPr>
              <a:t>→ |q̈c|min = 8/9, t_c = 1 s, q̇c = 1 rad/s. El código da lo mismo (celda 30).</a:t>
            </a:r>
            <a:endParaRPr lang="en-US" sz="1200" dirty="0"/>
          </a:p>
        </p:txBody>
      </p:sp>
      <p:sp>
        <p:nvSpPr>
          <p:cNvPr id="10" name="tarjeta-POR QUÉ q̈ PUEDE SALTAR-133"/>
          <p:cNvSpPr/>
          <p:nvPr/>
        </p:nvSpPr>
        <p:spPr>
          <a:xfrm>
            <a:off x="7406640" y="3337560"/>
            <a:ext cx="4233672" cy="1554480"/>
          </a:xfrm>
          <a:prstGeom prst="roundRect">
            <a:avLst>
              <a:gd name="adj" fmla="val 4706"/>
            </a:avLst>
          </a:prstGeom>
          <a:solidFill>
            <a:schemeClr val="bg2"/>
          </a:solidFill>
          <a:ln w="12700">
            <a:solidFill>
              <a:schemeClr val="bg2"/>
            </a:solidFill>
            <a:prstDash val="solid"/>
          </a:ln>
        </p:spPr>
      </p:sp>
      <p:sp>
        <p:nvSpPr>
          <p:cNvPr id="11" name="texto-POR QUÉ q̈ PUEDE SALTAR-134"/>
          <p:cNvSpPr txBox="1"/>
          <p:nvPr/>
        </p:nvSpPr>
        <p:spPr>
          <a:xfrm>
            <a:off x="7589520" y="3447288"/>
            <a:ext cx="3867912" cy="133502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POR QUÉ q̈ PUEDE SALTAR</a:t>
            </a:r>
            <a:endParaRPr lang="en-US" sz="1200" dirty="0"/>
          </a:p>
          <a:p>
            <a:pPr marL="0" indent="0">
              <a:spcAft>
                <a:spcPts val="200"/>
              </a:spcAft>
              <a:buNone/>
            </a:pPr>
            <a:r>
              <a:rPr lang="en-US" sz="1300" dirty="0">
                <a:solidFill>
                  <a:schemeClr val="tx1"/>
                </a:solidFill>
              </a:rPr>
              <a:t>q y q̇ son continuas; q̈ salta en t_c y t_f − t_c. En el modelo básico es aceptable; un salto de velocidad pediría aceleración infinita (LH parte B).</a:t>
            </a:r>
            <a:endParaRPr lang="en-US" sz="1200" dirty="0"/>
          </a:p>
        </p:txBody>
      </p:sp>
      <p:sp>
        <p:nvSpPr>
          <p:cNvPr id="12" name="tarjeta-CÓDIGO-135"/>
          <p:cNvSpPr/>
          <p:nvPr/>
        </p:nvSpPr>
        <p:spPr>
          <a:xfrm>
            <a:off x="548640" y="5074920"/>
            <a:ext cx="5394960" cy="1143000"/>
          </a:xfrm>
          <a:prstGeom prst="roundRect">
            <a:avLst>
              <a:gd name="adj" fmla="val 6400"/>
            </a:avLst>
          </a:prstGeom>
          <a:solidFill>
            <a:schemeClr val="accent5"/>
          </a:solidFill>
          <a:ln w="12700">
            <a:solidFill>
              <a:schemeClr val="accent5"/>
            </a:solidFill>
            <a:prstDash val="solid"/>
          </a:ln>
        </p:spPr>
      </p:sp>
      <p:sp>
        <p:nvSpPr>
          <p:cNvPr id="13" name="texto-CÓDIGO-136"/>
          <p:cNvSpPr txBox="1"/>
          <p:nvPr/>
        </p:nvSpPr>
        <p:spPr>
          <a:xfrm>
            <a:off x="731520" y="5184648"/>
            <a:ext cx="5029200" cy="9235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CÓDIGO</a:t>
            </a:r>
            <a:endParaRPr lang="en-US" sz="1200" dirty="0"/>
          </a:p>
          <a:p>
            <a:pPr marL="0" indent="0">
              <a:spcAft>
                <a:spcPts val="200"/>
              </a:spcAft>
              <a:buNone/>
            </a:pPr>
            <a:r>
              <a:rPr lang="en-US" sz="1300" dirty="0">
                <a:solidFill>
                  <a:schemeClr val="tx1"/>
                </a:solidFill>
              </a:rPr>
              <a:t>lspb.py:81 LSPB.evaluar(t) · :36 tiempo_mezcla · :31 aceleracion_minima</a:t>
            </a:r>
            <a:endParaRPr lang="en-US" sz="1200" dirty="0"/>
          </a:p>
        </p:txBody>
      </p:sp>
      <p:sp>
        <p:nvSpPr>
          <p:cNvPr id="14" name="tarjeta-FUENTE-137"/>
          <p:cNvSpPr/>
          <p:nvPr/>
        </p:nvSpPr>
        <p:spPr>
          <a:xfrm>
            <a:off x="6217920" y="5074920"/>
            <a:ext cx="5422392" cy="1143000"/>
          </a:xfrm>
          <a:prstGeom prst="roundRect">
            <a:avLst>
              <a:gd name="adj" fmla="val 6400"/>
            </a:avLst>
          </a:prstGeom>
          <a:solidFill>
            <a:schemeClr val="accent4"/>
          </a:solidFill>
          <a:ln w="12700">
            <a:solidFill>
              <a:schemeClr val="accent4"/>
            </a:solidFill>
            <a:prstDash val="solid"/>
          </a:ln>
        </p:spPr>
      </p:sp>
      <p:sp>
        <p:nvSpPr>
          <p:cNvPr id="15" name="texto-FUENTE-138"/>
          <p:cNvSpPr txBox="1"/>
          <p:nvPr/>
        </p:nvSpPr>
        <p:spPr>
          <a:xfrm>
            <a:off x="6400800" y="5184648"/>
            <a:ext cx="5056632" cy="9235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FUENTE</a:t>
            </a:r>
            <a:endParaRPr lang="en-US" sz="1200" dirty="0"/>
          </a:p>
          <a:p>
            <a:pPr marL="0" indent="0">
              <a:spcAft>
                <a:spcPts val="200"/>
              </a:spcAft>
              <a:buNone/>
            </a:pPr>
            <a:r>
              <a:rPr lang="en-US" sz="1300" dirty="0">
                <a:solidFill>
                  <a:schemeClr val="tx1"/>
                </a:solidFill>
              </a:rPr>
              <a:t>W09a diap. 7–10 · hoja de trabajo LSPB W09-S01 · G2 §3.2 · rúbrica C</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Las seis juntas comparten t_f y t_c; q6 marca el ritmo</a:t>
            </a:r>
            <a:endParaRPr lang="en-US" sz="3000" dirty="0"/>
          </a:p>
        </p:txBody>
      </p:sp>
      <p:sp>
        <p:nvSpPr>
          <p:cNvPr id="4" name="caja-ecuaciones-139"/>
          <p:cNvSpPr/>
          <p:nvPr/>
        </p:nvSpPr>
        <p:spPr>
          <a:xfrm>
            <a:off x="548640" y="1280160"/>
            <a:ext cx="6400800" cy="807332"/>
          </a:xfrm>
          <a:prstGeom prst="roundRect">
            <a:avLst>
              <a:gd name="adj" fmla="val 9061"/>
            </a:avLst>
          </a:prstGeom>
          <a:solidFill>
            <a:schemeClr val="bg2"/>
          </a:solidFill>
          <a:ln w="12700">
            <a:solidFill>
              <a:schemeClr val="bg2"/>
            </a:solidFill>
            <a:prstDash val="solid"/>
          </a:ln>
        </p:spPr>
      </p:sp>
      <p:pic>
        <p:nvPicPr>
          <p:cNvPr id="5" name="ecuacion-tmin-140" descr="/tmp/claude-0/deck/eq/tmin.png"/>
          <p:cNvPicPr>
            <a:picLocks noChangeAspect="1"/>
          </p:cNvPicPr>
          <p:nvPr/>
        </p:nvPicPr>
        <p:blipFill>
          <a:blip r:embed="rId3"/>
          <a:stretch>
            <a:fillRect/>
          </a:stretch>
        </p:blipFill>
        <p:spPr>
          <a:xfrm>
            <a:off x="777240" y="1508760"/>
            <a:ext cx="5548247" cy="350132"/>
          </a:xfrm>
          <a:prstGeom prst="rect">
            <a:avLst/>
          </a:prstGeom>
        </p:spPr>
      </p:pic>
      <p:graphicFrame>
        <p:nvGraphicFramePr>
          <p:cNvPr id="18" name="tabla-141"/>
          <p:cNvGraphicFramePr>
            <a:graphicFrameLocks noGrp="1"/>
          </p:cNvGraphicFramePr>
          <p:nvPr>
            <p:extLst>
              <p:ext uri="{D42A27DB-BD31-4B8C-83A1-F6EECF244321}">
                <p14:modId xmlns:p14="http://schemas.microsoft.com/office/powerpoint/2010/main" val="1579011935"/>
              </p:ext>
            </p:extLst>
          </p:nvPr>
        </p:nvGraphicFramePr>
        <p:xfrm>
          <a:off x="548640" y="2148840"/>
          <a:ext cx="6400800" cy="2304288"/>
        </p:xfrm>
        <a:graphic>
          <a:graphicData uri="http://schemas.openxmlformats.org/drawingml/2006/table">
            <a:tbl>
              <a:tblPr/>
              <a:tblGrid>
                <a:gridCol w="91440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1371600">
                  <a:extLst>
                    <a:ext uri="{9D8B030D-6E8A-4147-A177-3AD203B41FA5}">
                      <a16:colId xmlns:a16="http://schemas.microsoft.com/office/drawing/2014/main" val="20004"/>
                    </a:ext>
                  </a:extLst>
                </a:gridCol>
              </a:tblGrid>
              <a:tr h="329184">
                <a:tc>
                  <a:txBody>
                    <a:bodyPr/>
                    <a:lstStyle/>
                    <a:p>
                      <a:pPr marL="0" indent="0">
                        <a:buNone/>
                      </a:pPr>
                      <a:r>
                        <a:rPr lang="en-US" sz="1300" b="1" dirty="0">
                          <a:solidFill>
                            <a:schemeClr val="bg1"/>
                          </a:solidFill>
                        </a:rPr>
                        <a:t>Junta</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D [°]</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q̈c [°/s²]</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q̇c [°/s]</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q̇c/vmax</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29184">
                <a:tc>
                  <a:txBody>
                    <a:bodyPr/>
                    <a:lstStyle/>
                    <a:p>
                      <a:pPr marL="0" indent="0">
                        <a:buNone/>
                      </a:pPr>
                      <a:r>
                        <a:rPr lang="en-US" sz="1300" dirty="0">
                          <a:solidFill>
                            <a:schemeClr val="tx1"/>
                          </a:solidFill>
                        </a:rPr>
                        <a:t>q1</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−21.80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−57.9</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−14.4</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0.23</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29184">
                <a:tc>
                  <a:txBody>
                    <a:bodyPr/>
                    <a:lstStyle/>
                    <a:p>
                      <a:pPr marL="0" indent="0">
                        <a:buNone/>
                      </a:pPr>
                      <a:r>
                        <a:rPr lang="en-US" sz="1300" dirty="0">
                          <a:solidFill>
                            <a:schemeClr val="tx1"/>
                          </a:solidFill>
                        </a:rPr>
                        <a:t>q2</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9.63</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25.6</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6.4</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0.10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29184">
                <a:tc>
                  <a:txBody>
                    <a:bodyPr/>
                    <a:lstStyle/>
                    <a:p>
                      <a:pPr marL="0" indent="0">
                        <a:buNone/>
                      </a:pPr>
                      <a:r>
                        <a:rPr lang="en-US" sz="1300" dirty="0">
                          <a:solidFill>
                            <a:schemeClr val="tx1"/>
                          </a:solidFill>
                        </a:rPr>
                        <a:t>q3</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47.13</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125.1</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31.2</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0.50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29184">
                <a:tc>
                  <a:txBody>
                    <a:bodyPr/>
                    <a:lstStyle/>
                    <a:p>
                      <a:pPr marL="0" indent="0">
                        <a:buNone/>
                      </a:pPr>
                      <a:r>
                        <a:rPr lang="en-US" sz="1300" dirty="0">
                          <a:solidFill>
                            <a:schemeClr val="tx1"/>
                          </a:solidFill>
                        </a:rPr>
                        <a:t>q4</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29184">
                <a:tc>
                  <a:txBody>
                    <a:bodyPr/>
                    <a:lstStyle/>
                    <a:p>
                      <a:pPr marL="0" indent="0">
                        <a:buNone/>
                      </a:pPr>
                      <a:r>
                        <a:rPr lang="en-US" sz="1300" dirty="0">
                          <a:solidFill>
                            <a:schemeClr val="tx1"/>
                          </a:solidFill>
                        </a:rPr>
                        <a:t>q5</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33.24</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88.3</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22.0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0.28</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29184">
                <a:tc>
                  <a:txBody>
                    <a:bodyPr/>
                    <a:lstStyle/>
                    <a:p>
                      <a:pPr marL="0" indent="0">
                        <a:buNone/>
                      </a:pPr>
                      <a:r>
                        <a:rPr lang="en-US" sz="1300" dirty="0">
                          <a:solidFill>
                            <a:schemeClr val="tx1"/>
                          </a:solidFill>
                        </a:rPr>
                        <a:t>q6</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158.20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420.0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104.7</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1.00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pic>
        <p:nvPicPr>
          <p:cNvPr id="7" name="figura-142" descr="/tmp/claude-0/deck/P5_lspb_T_d.png"/>
          <p:cNvPicPr>
            <a:picLocks noChangeAspect="1"/>
          </p:cNvPicPr>
          <p:nvPr/>
        </p:nvPicPr>
        <p:blipFill>
          <a:blip r:embed="rId4"/>
          <a:stretch>
            <a:fillRect/>
          </a:stretch>
        </p:blipFill>
        <p:spPr>
          <a:xfrm>
            <a:off x="7432548" y="1234440"/>
            <a:ext cx="3998976" cy="3749040"/>
          </a:xfrm>
          <a:prstGeom prst="rect">
            <a:avLst/>
          </a:prstGeom>
        </p:spPr>
      </p:pic>
      <p:sp>
        <p:nvSpPr>
          <p:cNvPr id="8" name="decision-143"/>
          <p:cNvSpPr/>
          <p:nvPr/>
        </p:nvSpPr>
        <p:spPr>
          <a:xfrm>
            <a:off x="548640" y="4526280"/>
            <a:ext cx="6400800" cy="457200"/>
          </a:xfrm>
          <a:prstGeom prst="roundRect">
            <a:avLst>
              <a:gd name="adj" fmla="val 16000"/>
            </a:avLst>
          </a:prstGeom>
          <a:solidFill>
            <a:schemeClr val="bg1"/>
          </a:solidFill>
          <a:ln w="19050">
            <a:solidFill>
              <a:schemeClr val="accent1"/>
            </a:solidFill>
            <a:prstDash val="solid"/>
          </a:ln>
        </p:spPr>
      </p:sp>
      <p:sp>
        <p:nvSpPr>
          <p:cNvPr id="9" name="texto-decision-144"/>
          <p:cNvSpPr txBox="1"/>
          <p:nvPr/>
        </p:nvSpPr>
        <p:spPr>
          <a:xfrm>
            <a:off x="731520" y="4599432"/>
            <a:ext cx="6035040" cy="310896"/>
          </a:xfrm>
          <a:prstGeom prst="rect">
            <a:avLst/>
          </a:prstGeom>
          <a:noFill/>
          <a:ln/>
        </p:spPr>
        <p:txBody>
          <a:bodyPr wrap="square" lIns="0" tIns="0" rIns="0" bIns="0" rtlCol="0" anchor="ctr"/>
          <a:lstStyle/>
          <a:p>
            <a:pPr marL="0" indent="0">
              <a:buNone/>
            </a:pPr>
            <a:r>
              <a:rPr lang="en-US" sz="1200" b="1" dirty="0">
                <a:solidFill>
                  <a:schemeClr val="accent1"/>
                </a:solidFill>
              </a:rPr>
              <a:t>DECISIÓN DEL GRUPO  </a:t>
            </a:r>
            <a:r>
              <a:rPr lang="en-US" sz="1300" dirty="0">
                <a:solidFill>
                  <a:schemeClr val="tx1"/>
                </a:solidFill>
              </a:rPr>
              <a:t>v_max = 25 % del datasheet · a_max = v_max / 0.25 s (ABB no publica aceleraciones) · sincronizar con t_f y t_c comunes</a:t>
            </a:r>
            <a:endParaRPr lang="en-US" sz="1200" dirty="0"/>
          </a:p>
        </p:txBody>
      </p:sp>
      <p:sp>
        <p:nvSpPr>
          <p:cNvPr id="10" name="tarjeta-CÓDIGO-145"/>
          <p:cNvSpPr/>
          <p:nvPr/>
        </p:nvSpPr>
        <p:spPr>
          <a:xfrm>
            <a:off x="548640" y="5074920"/>
            <a:ext cx="5394960" cy="1143000"/>
          </a:xfrm>
          <a:prstGeom prst="roundRect">
            <a:avLst>
              <a:gd name="adj" fmla="val 6400"/>
            </a:avLst>
          </a:prstGeom>
          <a:solidFill>
            <a:schemeClr val="accent5"/>
          </a:solidFill>
          <a:ln w="12700">
            <a:solidFill>
              <a:schemeClr val="accent5"/>
            </a:solidFill>
            <a:prstDash val="solid"/>
          </a:ln>
        </p:spPr>
      </p:sp>
      <p:sp>
        <p:nvSpPr>
          <p:cNvPr id="11" name="texto-CÓDIGO-146"/>
          <p:cNvSpPr txBox="1"/>
          <p:nvPr/>
        </p:nvSpPr>
        <p:spPr>
          <a:xfrm>
            <a:off x="731520" y="5184648"/>
            <a:ext cx="5029200" cy="9235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CÓDIGO</a:t>
            </a:r>
            <a:endParaRPr lang="en-US" sz="1200" dirty="0"/>
          </a:p>
          <a:p>
            <a:pPr marL="0" indent="0">
              <a:spcAft>
                <a:spcPts val="200"/>
              </a:spcAft>
              <a:buNone/>
            </a:pPr>
            <a:r>
              <a:rPr lang="en-US" sz="1300" dirty="0">
                <a:solidFill>
                  <a:schemeClr val="tx1"/>
                </a:solidFill>
              </a:rPr>
              <a:t>lspb.py:47 tiempo_minimo · :60–76 clase LSPB (t_f, t_c, q̇c, q̈c) · :23–26 límites · celda 39 verificaciones</a:t>
            </a:r>
            <a:endParaRPr lang="en-US" sz="1200" dirty="0"/>
          </a:p>
        </p:txBody>
      </p:sp>
      <p:sp>
        <p:nvSpPr>
          <p:cNvPr id="12" name="tarjeta-FUENTE-147"/>
          <p:cNvSpPr/>
          <p:nvPr/>
        </p:nvSpPr>
        <p:spPr>
          <a:xfrm>
            <a:off x="6217920" y="5074920"/>
            <a:ext cx="5422392" cy="1143000"/>
          </a:xfrm>
          <a:prstGeom prst="roundRect">
            <a:avLst>
              <a:gd name="adj" fmla="val 6400"/>
            </a:avLst>
          </a:prstGeom>
          <a:solidFill>
            <a:schemeClr val="accent4"/>
          </a:solidFill>
          <a:ln w="12700">
            <a:solidFill>
              <a:schemeClr val="accent4"/>
            </a:solidFill>
            <a:prstDash val="solid"/>
          </a:ln>
        </p:spPr>
      </p:sp>
      <p:sp>
        <p:nvSpPr>
          <p:cNvPr id="13" name="texto-FUENTE-148"/>
          <p:cNvSpPr txBox="1"/>
          <p:nvPr/>
        </p:nvSpPr>
        <p:spPr>
          <a:xfrm>
            <a:off x="6400800" y="5184648"/>
            <a:ext cx="5056632" cy="9235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FUENTE</a:t>
            </a:r>
            <a:endParaRPr lang="en-US" sz="1200" dirty="0"/>
          </a:p>
          <a:p>
            <a:pPr marL="0" indent="0">
              <a:spcAft>
                <a:spcPts val="200"/>
              </a:spcAft>
              <a:buNone/>
            </a:pPr>
            <a:r>
              <a:rPr lang="en-US" sz="1300" dirty="0">
                <a:solidFill>
                  <a:schemeClr val="tx1"/>
                </a:solidFill>
              </a:rPr>
              <a:t>W09a diap. 9 (t_c y aceleración mínima) · Siciliano §4.2.1 (varias juntas) · G2 §2.1 y §3.2</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insignia-149"/>
          <p:cNvSpPr/>
          <p:nvPr/>
        </p:nvSpPr>
        <p:spPr>
          <a:xfrm>
            <a:off x="822960" y="2331720"/>
            <a:ext cx="1234440" cy="1234440"/>
          </a:xfrm>
          <a:prstGeom prst="ellipse">
            <a:avLst/>
          </a:prstGeom>
          <a:solidFill>
            <a:schemeClr val="accent1"/>
          </a:solidFill>
          <a:ln w="12700">
            <a:solidFill>
              <a:schemeClr val="accent1"/>
            </a:solidFill>
            <a:prstDash val="solid"/>
          </a:ln>
        </p:spPr>
      </p:sp>
      <p:sp>
        <p:nvSpPr>
          <p:cNvPr id="3" name="numero-150"/>
          <p:cNvSpPr txBox="1"/>
          <p:nvPr/>
        </p:nvSpPr>
        <p:spPr>
          <a:xfrm>
            <a:off x="822960" y="2331720"/>
            <a:ext cx="1234440" cy="1234440"/>
          </a:xfrm>
          <a:prstGeom prst="rect">
            <a:avLst/>
          </a:prstGeom>
          <a:noFill/>
          <a:ln/>
        </p:spPr>
        <p:txBody>
          <a:bodyPr wrap="square" lIns="0" tIns="0" rIns="0" bIns="0" rtlCol="0" anchor="ctr"/>
          <a:lstStyle/>
          <a:p>
            <a:pPr marL="0" indent="0" algn="ctr">
              <a:buNone/>
            </a:pPr>
            <a:r>
              <a:rPr lang="en-US" sz="4000" b="1" dirty="0">
                <a:solidFill>
                  <a:schemeClr val="bg1"/>
                </a:solidFill>
                <a:latin typeface="Cambria" pitchFamily="34" charset="0"/>
                <a:ea typeface="Cambria" pitchFamily="34" charset="-122"/>
                <a:cs typeface="Cambria" pitchFamily="34" charset="-120"/>
              </a:rPr>
              <a:t>5</a:t>
            </a:r>
            <a:endParaRPr lang="en-US" sz="4000" dirty="0"/>
          </a:p>
        </p:txBody>
      </p:sp>
      <p:sp>
        <p:nvSpPr>
          <p:cNvPr id="4" name="Text 0"/>
          <p:cNvSpPr>
            <a:spLocks noGrp="1"/>
          </p:cNvSpPr>
          <p:nvPr>
            <p:ph type="title" idx="100" hasCustomPrompt="1"/>
          </p:nvPr>
        </p:nvSpPr>
        <p:spPr>
          <a:xfrm>
            <a:off x="2377440" y="2377440"/>
            <a:ext cx="9052560" cy="1097280"/>
          </a:xfrm>
          <a:prstGeom prst="rect">
            <a:avLst/>
          </a:prstGeom>
          <a:noFill/>
          <a:ln/>
        </p:spPr>
        <p:txBody>
          <a:bodyPr wrap="square" rtlCol="0" anchor="ctr"/>
          <a:lstStyle/>
          <a:p>
            <a:pPr marL="0" indent="0" algn="l">
              <a:buNone/>
            </a:pPr>
            <a:r>
              <a:rPr lang="en-US" sz="4000" b="1" dirty="0">
                <a:solidFill>
                  <a:schemeClr val="bg1"/>
                </a:solidFill>
                <a:latin typeface="Cambria" pitchFamily="34" charset="0"/>
                <a:ea typeface="Cambria" pitchFamily="34" charset="-122"/>
                <a:cs typeface="Cambria" pitchFamily="34" charset="-120"/>
              </a:rPr>
              <a:t>Jacobiano geométrico y singularidades</a:t>
            </a:r>
            <a:endParaRPr lang="en-US" sz="4000" dirty="0"/>
          </a:p>
        </p:txBody>
      </p:sp>
      <p:sp>
        <p:nvSpPr>
          <p:cNvPr id="5" name="Text 0"/>
          <p:cNvSpPr>
            <a:spLocks noGrp="1"/>
          </p:cNvSpPr>
          <p:nvPr>
            <p:ph type="body" idx="101" hasCustomPrompt="1"/>
          </p:nvPr>
        </p:nvSpPr>
        <p:spPr>
          <a:xfrm>
            <a:off x="2377440" y="3474720"/>
            <a:ext cx="9052560" cy="1280160"/>
          </a:xfrm>
          <a:prstGeom prst="rect">
            <a:avLst/>
          </a:prstGeom>
          <a:noFill/>
          <a:ln/>
        </p:spPr>
        <p:txBody>
          <a:bodyPr wrap="square" rtlCol="0" anchor="t"/>
          <a:lstStyle/>
          <a:p>
            <a:pPr marL="0" indent="0">
              <a:buNone/>
            </a:pPr>
            <a:r>
              <a:rPr lang="en-US" sz="1800" dirty="0">
                <a:solidFill>
                  <a:schemeClr val="bg2"/>
                </a:solidFill>
              </a:rPr>
              <a:t>Velocidades del TCP, pérdida de rango y amplificación de velocidad</a:t>
            </a:r>
            <a:endParaRPr lang="en-US" sz="1800" dirty="0"/>
          </a:p>
          <a:p>
            <a:pPr marL="0" indent="0">
              <a:buNone/>
            </a:pPr>
            <a:r>
              <a:rPr lang="en-US" sz="1800" dirty="0">
                <a:solidFill>
                  <a:schemeClr val="bg2"/>
                </a:solidFill>
              </a:rPr>
              <a:t>jacobiano.py · celdas 40–58</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Cada columna es lo que aporta una junta girando sola</a:t>
            </a:r>
            <a:endParaRPr lang="en-US" sz="3000" dirty="0"/>
          </a:p>
        </p:txBody>
      </p:sp>
      <p:sp>
        <p:nvSpPr>
          <p:cNvPr id="4" name="caja-ecuaciones-151"/>
          <p:cNvSpPr/>
          <p:nvPr/>
        </p:nvSpPr>
        <p:spPr>
          <a:xfrm>
            <a:off x="548640" y="1280160"/>
            <a:ext cx="11091672" cy="806958"/>
          </a:xfrm>
          <a:prstGeom prst="roundRect">
            <a:avLst>
              <a:gd name="adj" fmla="val 9065"/>
            </a:avLst>
          </a:prstGeom>
          <a:solidFill>
            <a:schemeClr val="bg2"/>
          </a:solidFill>
          <a:ln w="12700">
            <a:solidFill>
              <a:schemeClr val="bg2"/>
            </a:solidFill>
            <a:prstDash val="solid"/>
          </a:ln>
        </p:spPr>
      </p:sp>
      <p:pic>
        <p:nvPicPr>
          <p:cNvPr id="5" name="ecuacion-jac-152" descr="/tmp/claude-0/deck/eq/jac.png"/>
          <p:cNvPicPr>
            <a:picLocks noChangeAspect="1"/>
          </p:cNvPicPr>
          <p:nvPr/>
        </p:nvPicPr>
        <p:blipFill>
          <a:blip r:embed="rId3"/>
          <a:stretch>
            <a:fillRect/>
          </a:stretch>
        </p:blipFill>
        <p:spPr>
          <a:xfrm>
            <a:off x="777240" y="1508760"/>
            <a:ext cx="5740977" cy="349758"/>
          </a:xfrm>
          <a:prstGeom prst="rect">
            <a:avLst/>
          </a:prstGeom>
        </p:spPr>
      </p:pic>
      <p:sp>
        <p:nvSpPr>
          <p:cNvPr id="6" name="val-153"/>
          <p:cNvSpPr/>
          <p:nvPr/>
        </p:nvSpPr>
        <p:spPr>
          <a:xfrm>
            <a:off x="548640" y="2286000"/>
            <a:ext cx="3593592" cy="1417320"/>
          </a:xfrm>
          <a:prstGeom prst="roundRect">
            <a:avLst>
              <a:gd name="adj" fmla="val 5161"/>
            </a:avLst>
          </a:prstGeom>
          <a:solidFill>
            <a:schemeClr val="bg2"/>
          </a:solidFill>
          <a:ln w="12700">
            <a:solidFill>
              <a:schemeClr val="bg2"/>
            </a:solidFill>
            <a:prstDash val="solid"/>
          </a:ln>
        </p:spPr>
      </p:sp>
      <p:sp>
        <p:nvSpPr>
          <p:cNvPr id="7" name="v-154"/>
          <p:cNvSpPr txBox="1"/>
          <p:nvPr/>
        </p:nvSpPr>
        <p:spPr>
          <a:xfrm>
            <a:off x="731520" y="2377440"/>
            <a:ext cx="3227832" cy="640080"/>
          </a:xfrm>
          <a:prstGeom prst="rect">
            <a:avLst/>
          </a:prstGeom>
          <a:noFill/>
          <a:ln/>
        </p:spPr>
        <p:txBody>
          <a:bodyPr wrap="square" lIns="0" tIns="0" rIns="0" bIns="0" rtlCol="0" anchor="ctr"/>
          <a:lstStyle/>
          <a:p>
            <a:pPr marL="0" indent="0">
              <a:buNone/>
            </a:pPr>
            <a:r>
              <a:rPr lang="en-US" sz="2600" b="1" dirty="0">
                <a:solidFill>
                  <a:schemeClr val="accent2"/>
                </a:solidFill>
                <a:latin typeface="Cambria" pitchFamily="34" charset="0"/>
                <a:ea typeface="Cambria" pitchFamily="34" charset="-122"/>
                <a:cs typeface="Cambria" pitchFamily="34" charset="-120"/>
              </a:rPr>
              <a:t>1.1·10⁻¹⁶</a:t>
            </a:r>
            <a:endParaRPr lang="en-US" sz="2600" dirty="0"/>
          </a:p>
        </p:txBody>
      </p:sp>
      <p:sp>
        <p:nvSpPr>
          <p:cNvPr id="8" name="l-155"/>
          <p:cNvSpPr txBox="1"/>
          <p:nvPr/>
        </p:nvSpPr>
        <p:spPr>
          <a:xfrm>
            <a:off x="731520" y="3017520"/>
            <a:ext cx="3227832" cy="594360"/>
          </a:xfrm>
          <a:prstGeom prst="rect">
            <a:avLst/>
          </a:prstGeom>
          <a:noFill/>
          <a:ln/>
        </p:spPr>
        <p:txBody>
          <a:bodyPr wrap="square" lIns="0" tIns="0" rIns="0" bIns="0" rtlCol="0" anchor="t"/>
          <a:lstStyle/>
          <a:p>
            <a:pPr marL="0" indent="0">
              <a:buNone/>
            </a:pPr>
            <a:r>
              <a:rPr lang="en-US" sz="1300" dirty="0">
                <a:solidFill>
                  <a:schemeClr val="tx1"/>
                </a:solidFill>
              </a:rPr>
              <a:t>J del código vs J a mano en q_i = 0</a:t>
            </a:r>
            <a:endParaRPr lang="en-US" sz="1300" dirty="0"/>
          </a:p>
        </p:txBody>
      </p:sp>
      <p:sp>
        <p:nvSpPr>
          <p:cNvPr id="9" name="val-156"/>
          <p:cNvSpPr/>
          <p:nvPr/>
        </p:nvSpPr>
        <p:spPr>
          <a:xfrm>
            <a:off x="4297680" y="2286000"/>
            <a:ext cx="3593592" cy="1417320"/>
          </a:xfrm>
          <a:prstGeom prst="roundRect">
            <a:avLst>
              <a:gd name="adj" fmla="val 5161"/>
            </a:avLst>
          </a:prstGeom>
          <a:solidFill>
            <a:schemeClr val="bg2"/>
          </a:solidFill>
          <a:ln w="12700">
            <a:solidFill>
              <a:schemeClr val="bg2"/>
            </a:solidFill>
            <a:prstDash val="solid"/>
          </a:ln>
        </p:spPr>
      </p:sp>
      <p:sp>
        <p:nvSpPr>
          <p:cNvPr id="10" name="v-157"/>
          <p:cNvSpPr txBox="1"/>
          <p:nvPr/>
        </p:nvSpPr>
        <p:spPr>
          <a:xfrm>
            <a:off x="4480560" y="2377440"/>
            <a:ext cx="3227832" cy="640080"/>
          </a:xfrm>
          <a:prstGeom prst="rect">
            <a:avLst/>
          </a:prstGeom>
          <a:noFill/>
          <a:ln/>
        </p:spPr>
        <p:txBody>
          <a:bodyPr wrap="square" lIns="0" tIns="0" rIns="0" bIns="0" rtlCol="0" anchor="ctr"/>
          <a:lstStyle/>
          <a:p>
            <a:pPr marL="0" indent="0">
              <a:buNone/>
            </a:pPr>
            <a:r>
              <a:rPr lang="en-US" sz="2600" b="1" dirty="0">
                <a:solidFill>
                  <a:schemeClr val="accent2"/>
                </a:solidFill>
                <a:latin typeface="Cambria" pitchFamily="34" charset="0"/>
                <a:ea typeface="Cambria" pitchFamily="34" charset="-122"/>
                <a:cs typeface="Cambria" pitchFamily="34" charset="-120"/>
              </a:rPr>
              <a:t>3.2·10⁻¹⁰</a:t>
            </a:r>
            <a:endParaRPr lang="en-US" sz="2600" dirty="0"/>
          </a:p>
        </p:txBody>
      </p:sp>
      <p:sp>
        <p:nvSpPr>
          <p:cNvPr id="11" name="l-158"/>
          <p:cNvSpPr txBox="1"/>
          <p:nvPr/>
        </p:nvSpPr>
        <p:spPr>
          <a:xfrm>
            <a:off x="4480560" y="3017520"/>
            <a:ext cx="3227832" cy="594360"/>
          </a:xfrm>
          <a:prstGeom prst="rect">
            <a:avLst/>
          </a:prstGeom>
          <a:noFill/>
          <a:ln/>
        </p:spPr>
        <p:txBody>
          <a:bodyPr wrap="square" lIns="0" tIns="0" rIns="0" bIns="0" rtlCol="0" anchor="t"/>
          <a:lstStyle/>
          <a:p>
            <a:pPr marL="0" indent="0">
              <a:buNone/>
            </a:pPr>
            <a:r>
              <a:rPr lang="en-US" sz="1300" dirty="0">
                <a:solidFill>
                  <a:schemeClr val="tx1"/>
                </a:solidFill>
              </a:rPr>
              <a:t>J vs diferencias finitas de la FK (200 posturas)</a:t>
            </a:r>
            <a:endParaRPr lang="en-US" sz="1300" dirty="0"/>
          </a:p>
        </p:txBody>
      </p:sp>
      <p:sp>
        <p:nvSpPr>
          <p:cNvPr id="12" name="val-159"/>
          <p:cNvSpPr/>
          <p:nvPr/>
        </p:nvSpPr>
        <p:spPr>
          <a:xfrm>
            <a:off x="8046720" y="2286000"/>
            <a:ext cx="3593592" cy="1417320"/>
          </a:xfrm>
          <a:prstGeom prst="roundRect">
            <a:avLst>
              <a:gd name="adj" fmla="val 5161"/>
            </a:avLst>
          </a:prstGeom>
          <a:solidFill>
            <a:schemeClr val="bg2"/>
          </a:solidFill>
          <a:ln w="12700">
            <a:solidFill>
              <a:schemeClr val="bg2"/>
            </a:solidFill>
            <a:prstDash val="solid"/>
          </a:ln>
        </p:spPr>
      </p:sp>
      <p:sp>
        <p:nvSpPr>
          <p:cNvPr id="13" name="v-160"/>
          <p:cNvSpPr txBox="1"/>
          <p:nvPr/>
        </p:nvSpPr>
        <p:spPr>
          <a:xfrm>
            <a:off x="8229600" y="2377440"/>
            <a:ext cx="3227832" cy="640080"/>
          </a:xfrm>
          <a:prstGeom prst="rect">
            <a:avLst/>
          </a:prstGeom>
          <a:noFill/>
          <a:ln/>
        </p:spPr>
        <p:txBody>
          <a:bodyPr wrap="square" lIns="0" tIns="0" rIns="0" bIns="0" rtlCol="0" anchor="ctr"/>
          <a:lstStyle/>
          <a:p>
            <a:pPr marL="0" indent="0">
              <a:buNone/>
            </a:pPr>
            <a:r>
              <a:rPr lang="en-US" sz="2600" b="1" dirty="0">
                <a:solidFill>
                  <a:schemeClr val="accent2"/>
                </a:solidFill>
                <a:latin typeface="Cambria" pitchFamily="34" charset="0"/>
                <a:ea typeface="Cambria" pitchFamily="34" charset="-122"/>
                <a:cs typeface="Cambria" pitchFamily="34" charset="-120"/>
              </a:rPr>
              <a:t>1.9·10⁻¹⁰ m/s</a:t>
            </a:r>
            <a:endParaRPr lang="en-US" sz="2600" dirty="0"/>
          </a:p>
        </p:txBody>
      </p:sp>
      <p:sp>
        <p:nvSpPr>
          <p:cNvPr id="14" name="l-161"/>
          <p:cNvSpPr txBox="1"/>
          <p:nvPr/>
        </p:nvSpPr>
        <p:spPr>
          <a:xfrm>
            <a:off x="8229600" y="3017520"/>
            <a:ext cx="3227832" cy="594360"/>
          </a:xfrm>
          <a:prstGeom prst="rect">
            <a:avLst/>
          </a:prstGeom>
          <a:noFill/>
          <a:ln/>
        </p:spPr>
        <p:txBody>
          <a:bodyPr wrap="square" lIns="0" tIns="0" rIns="0" bIns="0" rtlCol="0" anchor="t"/>
          <a:lstStyle/>
          <a:p>
            <a:pPr marL="0" indent="0">
              <a:buNone/>
            </a:pPr>
            <a:r>
              <a:rPr lang="en-US" sz="1300" dirty="0">
                <a:solidFill>
                  <a:schemeClr val="tx1"/>
                </a:solidFill>
              </a:rPr>
              <a:t>J q̇ vs derivada numérica de p(q(t))</a:t>
            </a:r>
            <a:endParaRPr lang="en-US" sz="1300" dirty="0"/>
          </a:p>
        </p:txBody>
      </p:sp>
      <p:sp>
        <p:nvSpPr>
          <p:cNvPr id="15" name="vinetas-162"/>
          <p:cNvSpPr txBox="1"/>
          <p:nvPr/>
        </p:nvSpPr>
        <p:spPr>
          <a:xfrm>
            <a:off x="548640" y="3886200"/>
            <a:ext cx="11091672" cy="1097280"/>
          </a:xfrm>
          <a:prstGeom prst="rect">
            <a:avLst/>
          </a:prstGeom>
          <a:noFill/>
          <a:ln/>
        </p:spPr>
        <p:txBody>
          <a:bodyPr wrap="square" rtlCol="0" anchor="t"/>
          <a:lstStyle/>
          <a:p>
            <a:pPr marL="342900" indent="-342900">
              <a:spcAft>
                <a:spcPts val="600"/>
              </a:spcAft>
              <a:buSzPct val="100000"/>
              <a:buChar char="•"/>
            </a:pPr>
            <a:r>
              <a:rPr lang="en-US" sz="1500" dirty="0">
                <a:solidFill>
                  <a:schemeClr val="tx1"/>
                </a:solidFill>
              </a:rPr>
              <a:t>Columna i = velocidad del TCP con q̇_i = 1 rad/s y las demás quietas (W08b diap. 7)</a:t>
            </a:r>
            <a:endParaRPr lang="en-US" sz="1500" dirty="0"/>
          </a:p>
          <a:p>
            <a:pPr marL="342900" indent="-342900">
              <a:spcAft>
                <a:spcPts val="600"/>
              </a:spcAft>
              <a:buSzPct val="100000"/>
              <a:buChar char="•"/>
            </a:pPr>
            <a:r>
              <a:rPr lang="en-US" sz="1500" dirty="0">
                <a:solidFill>
                  <a:schemeClr val="tx1"/>
                </a:solidFill>
              </a:rPr>
              <a:t>Juntas 1–3 posicionan (palanca 0.27–0.49 m); juntas 4–6 orientan (≤ 0.222 m)</a:t>
            </a:r>
            <a:endParaRPr lang="en-US" sz="1500" dirty="0"/>
          </a:p>
        </p:txBody>
      </p:sp>
      <p:sp>
        <p:nvSpPr>
          <p:cNvPr id="16" name="tarjeta-CÓDIGO-163"/>
          <p:cNvSpPr/>
          <p:nvPr/>
        </p:nvSpPr>
        <p:spPr>
          <a:xfrm>
            <a:off x="548640" y="5074920"/>
            <a:ext cx="5394960" cy="1143000"/>
          </a:xfrm>
          <a:prstGeom prst="roundRect">
            <a:avLst>
              <a:gd name="adj" fmla="val 6400"/>
            </a:avLst>
          </a:prstGeom>
          <a:solidFill>
            <a:schemeClr val="accent5"/>
          </a:solidFill>
          <a:ln w="12700">
            <a:solidFill>
              <a:schemeClr val="accent5"/>
            </a:solidFill>
            <a:prstDash val="solid"/>
          </a:ln>
        </p:spPr>
      </p:sp>
      <p:sp>
        <p:nvSpPr>
          <p:cNvPr id="17" name="texto-CÓDIGO-164"/>
          <p:cNvSpPr txBox="1"/>
          <p:nvPr/>
        </p:nvSpPr>
        <p:spPr>
          <a:xfrm>
            <a:off x="731520" y="5184648"/>
            <a:ext cx="5029200" cy="9235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CÓDIGO</a:t>
            </a:r>
            <a:endParaRPr lang="en-US" sz="1200" dirty="0"/>
          </a:p>
          <a:p>
            <a:pPr marL="0" indent="0">
              <a:spcAft>
                <a:spcPts val="200"/>
              </a:spcAft>
              <a:buNone/>
            </a:pPr>
            <a:r>
              <a:rPr lang="en-US" sz="1300" dirty="0">
                <a:solidFill>
                  <a:schemeClr val="tx1"/>
                </a:solidFill>
              </a:rPr>
              <a:t>jacobiano.py:23 jacobiano(q) · :30–31 J[:3,i] = z × (p − o), J[3:,i] = z · :40 jacobiano_numerico</a:t>
            </a:r>
            <a:endParaRPr lang="en-US" sz="1200" dirty="0"/>
          </a:p>
        </p:txBody>
      </p:sp>
      <p:sp>
        <p:nvSpPr>
          <p:cNvPr id="18" name="tarjeta-FUENTE-165"/>
          <p:cNvSpPr/>
          <p:nvPr/>
        </p:nvSpPr>
        <p:spPr>
          <a:xfrm>
            <a:off x="6217920" y="5074920"/>
            <a:ext cx="5422392" cy="1143000"/>
          </a:xfrm>
          <a:prstGeom prst="roundRect">
            <a:avLst>
              <a:gd name="adj" fmla="val 6400"/>
            </a:avLst>
          </a:prstGeom>
          <a:solidFill>
            <a:schemeClr val="accent4"/>
          </a:solidFill>
          <a:ln w="12700">
            <a:solidFill>
              <a:schemeClr val="accent4"/>
            </a:solidFill>
            <a:prstDash val="solid"/>
          </a:ln>
        </p:spPr>
      </p:sp>
      <p:sp>
        <p:nvSpPr>
          <p:cNvPr id="19" name="texto-FUENTE-166"/>
          <p:cNvSpPr txBox="1"/>
          <p:nvPr/>
        </p:nvSpPr>
        <p:spPr>
          <a:xfrm>
            <a:off x="6400800" y="5184648"/>
            <a:ext cx="5056632" cy="9235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FUENTE</a:t>
            </a:r>
            <a:endParaRPr lang="en-US" sz="1200" dirty="0"/>
          </a:p>
          <a:p>
            <a:pPr marL="0" indent="0">
              <a:spcAft>
                <a:spcPts val="200"/>
              </a:spcAft>
              <a:buNone/>
            </a:pPr>
            <a:r>
              <a:rPr lang="en-US" sz="1300" dirty="0">
                <a:solidFill>
                  <a:schemeClr val="tx1"/>
                </a:solidFill>
              </a:rPr>
              <a:t>W08a diap. 2, 5–7, 9 · W08b diap. 3–7 · Siciliano §3.1.3 · G2 §3.3 · rúbrica D</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El IRB 120 pierde rango en tres familias de posturas</a:t>
            </a:r>
            <a:endParaRPr lang="en-US" sz="3000" dirty="0"/>
          </a:p>
        </p:txBody>
      </p:sp>
      <p:sp>
        <p:nvSpPr>
          <p:cNvPr id="4" name="caja-ecuaciones-167"/>
          <p:cNvSpPr/>
          <p:nvPr/>
        </p:nvSpPr>
        <p:spPr>
          <a:xfrm>
            <a:off x="548640" y="1280160"/>
            <a:ext cx="11091672" cy="1336603"/>
          </a:xfrm>
          <a:prstGeom prst="roundRect">
            <a:avLst>
              <a:gd name="adj" fmla="val 5473"/>
            </a:avLst>
          </a:prstGeom>
          <a:solidFill>
            <a:schemeClr val="bg2"/>
          </a:solidFill>
          <a:ln w="12700">
            <a:solidFill>
              <a:schemeClr val="bg2"/>
            </a:solidFill>
            <a:prstDash val="solid"/>
          </a:ln>
        </p:spPr>
      </p:sp>
      <p:pic>
        <p:nvPicPr>
          <p:cNvPr id="5" name="ecuacion-rank-168" descr="/tmp/claude-0/deck/eq/rank.png"/>
          <p:cNvPicPr>
            <a:picLocks noChangeAspect="1"/>
          </p:cNvPicPr>
          <p:nvPr/>
        </p:nvPicPr>
        <p:blipFill>
          <a:blip r:embed="rId3"/>
          <a:stretch>
            <a:fillRect/>
          </a:stretch>
        </p:blipFill>
        <p:spPr>
          <a:xfrm>
            <a:off x="777240" y="1508760"/>
            <a:ext cx="6393817" cy="340822"/>
          </a:xfrm>
          <a:prstGeom prst="rect">
            <a:avLst/>
          </a:prstGeom>
        </p:spPr>
      </p:pic>
      <p:pic>
        <p:nvPicPr>
          <p:cNvPr id="6" name="ecuacion-det-169" descr="/tmp/claude-0/deck/eq/det.png"/>
          <p:cNvPicPr>
            <a:picLocks noChangeAspect="1"/>
          </p:cNvPicPr>
          <p:nvPr/>
        </p:nvPicPr>
        <p:blipFill>
          <a:blip r:embed="rId4"/>
          <a:stretch>
            <a:fillRect/>
          </a:stretch>
        </p:blipFill>
        <p:spPr>
          <a:xfrm>
            <a:off x="777240" y="2050750"/>
            <a:ext cx="5487231" cy="337414"/>
          </a:xfrm>
          <a:prstGeom prst="rect">
            <a:avLst/>
          </a:prstGeom>
        </p:spPr>
      </p:pic>
      <p:graphicFrame>
        <p:nvGraphicFramePr>
          <p:cNvPr id="21" name="tabla-170"/>
          <p:cNvGraphicFramePr>
            <a:graphicFrameLocks noGrp="1"/>
          </p:cNvGraphicFramePr>
          <p:nvPr>
            <p:extLst>
              <p:ext uri="{D42A27DB-BD31-4B8C-83A1-F6EECF244321}">
                <p14:modId xmlns:p14="http://schemas.microsoft.com/office/powerpoint/2010/main" val="1579011935"/>
              </p:ext>
            </p:extLst>
          </p:nvPr>
        </p:nvGraphicFramePr>
        <p:xfrm>
          <a:off x="548640" y="2606040"/>
          <a:ext cx="11091672" cy="1755648"/>
        </p:xfrm>
        <a:graphic>
          <a:graphicData uri="http://schemas.openxmlformats.org/drawingml/2006/table">
            <a:tbl>
              <a:tblPr/>
              <a:tblGrid>
                <a:gridCol w="18288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gridCol w="2039112">
                  <a:extLst>
                    <a:ext uri="{9D8B030D-6E8A-4147-A177-3AD203B41FA5}">
                      <a16:colId xmlns:a16="http://schemas.microsoft.com/office/drawing/2014/main" val="20003"/>
                    </a:ext>
                  </a:extLst>
                </a:gridCol>
              </a:tblGrid>
              <a:tr h="438912">
                <a:tc>
                  <a:txBody>
                    <a:bodyPr/>
                    <a:lstStyle/>
                    <a:p>
                      <a:pPr marL="0" indent="0">
                        <a:buNone/>
                      </a:pPr>
                      <a:r>
                        <a:rPr lang="en-US" sz="1400" b="1" dirty="0">
                          <a:solidFill>
                            <a:schemeClr val="bg1"/>
                          </a:solidFill>
                        </a:rPr>
                        <a:t>Singularidad</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Condición</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Qué pasa físicamente</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¿Alcanzable?</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38912">
                <a:tc>
                  <a:txBody>
                    <a:bodyPr/>
                    <a:lstStyle/>
                    <a:p>
                      <a:pPr marL="0" indent="0">
                        <a:buNone/>
                      </a:pPr>
                      <a:r>
                        <a:rPr lang="en-US" sz="1400" dirty="0">
                          <a:solidFill>
                            <a:schemeClr val="tx1"/>
                          </a:solidFill>
                        </a:rPr>
                        <a:t>Muñeca</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q5 = 0</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ejes 4 y 6 colineales: dos motores dan el mismo giro</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sí, incluye q_i = 0</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38912">
                <a:tc>
                  <a:txBody>
                    <a:bodyPr/>
                    <a:lstStyle/>
                    <a:p>
                      <a:pPr marL="0" indent="0">
                        <a:buNone/>
                      </a:pPr>
                      <a:r>
                        <a:rPr lang="en-US" sz="1400" dirty="0">
                          <a:solidFill>
                            <a:schemeClr val="tx1"/>
                          </a:solidFill>
                        </a:rPr>
                        <a:t>Codo</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q3 = δ − 90° = −76.95°</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brazo estirado: borde del espacio de trabajo</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sí (q3 ≥ −110°)</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38912">
                <a:tc>
                  <a:txBody>
                    <a:bodyPr/>
                    <a:lstStyle/>
                    <a:p>
                      <a:pPr marL="0" indent="0">
                        <a:buNone/>
                      </a:pPr>
                      <a:r>
                        <a:rPr lang="en-US" sz="1400" dirty="0">
                          <a:solidFill>
                            <a:schemeClr val="tx1"/>
                          </a:solidFill>
                        </a:rPr>
                        <a:t>Hombro</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r_W = 0</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W sobre el eje 1: girar la base no traslada W</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sí</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8" name="tarjeta-CÓDIGO-171"/>
          <p:cNvSpPr/>
          <p:nvPr/>
        </p:nvSpPr>
        <p:spPr>
          <a:xfrm>
            <a:off x="548640" y="4572000"/>
            <a:ext cx="5394960" cy="1188720"/>
          </a:xfrm>
          <a:prstGeom prst="roundRect">
            <a:avLst>
              <a:gd name="adj" fmla="val 6154"/>
            </a:avLst>
          </a:prstGeom>
          <a:solidFill>
            <a:schemeClr val="accent5"/>
          </a:solidFill>
          <a:ln w="12700">
            <a:solidFill>
              <a:schemeClr val="accent5"/>
            </a:solidFill>
            <a:prstDash val="solid"/>
          </a:ln>
        </p:spPr>
      </p:sp>
      <p:sp>
        <p:nvSpPr>
          <p:cNvPr id="9" name="texto-CÓDIGO-172"/>
          <p:cNvSpPr txBox="1"/>
          <p:nvPr/>
        </p:nvSpPr>
        <p:spPr>
          <a:xfrm>
            <a:off x="731520" y="4681728"/>
            <a:ext cx="5029200" cy="96926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CÓDIGO</a:t>
            </a:r>
            <a:endParaRPr lang="en-US" sz="1200" dirty="0"/>
          </a:p>
          <a:p>
            <a:pPr marL="0" indent="0">
              <a:spcAft>
                <a:spcPts val="200"/>
              </a:spcAft>
              <a:buNone/>
            </a:pPr>
            <a:r>
              <a:rPr lang="en-US" sz="1300" dirty="0">
                <a:solidFill>
                  <a:schemeClr val="tx1"/>
                </a:solidFill>
              </a:rPr>
              <a:t>jacobiano.py:58 analisis_rango (SVD, rango = Σ σ &gt; 1e-6) · :79 det_factorizado · :73 radio_muneca</a:t>
            </a:r>
            <a:endParaRPr lang="en-US" sz="1200" dirty="0"/>
          </a:p>
        </p:txBody>
      </p:sp>
      <p:sp>
        <p:nvSpPr>
          <p:cNvPr id="10" name="tarjeta-FUENTE-173"/>
          <p:cNvSpPr/>
          <p:nvPr/>
        </p:nvSpPr>
        <p:spPr>
          <a:xfrm>
            <a:off x="6217920" y="4572000"/>
            <a:ext cx="5422392" cy="1188720"/>
          </a:xfrm>
          <a:prstGeom prst="roundRect">
            <a:avLst>
              <a:gd name="adj" fmla="val 6154"/>
            </a:avLst>
          </a:prstGeom>
          <a:solidFill>
            <a:schemeClr val="accent4"/>
          </a:solidFill>
          <a:ln w="12700">
            <a:solidFill>
              <a:schemeClr val="accent4"/>
            </a:solidFill>
            <a:prstDash val="solid"/>
          </a:ln>
        </p:spPr>
      </p:sp>
      <p:sp>
        <p:nvSpPr>
          <p:cNvPr id="11" name="texto-FUENTE-174"/>
          <p:cNvSpPr txBox="1"/>
          <p:nvPr/>
        </p:nvSpPr>
        <p:spPr>
          <a:xfrm>
            <a:off x="6400800" y="4681728"/>
            <a:ext cx="5056632" cy="96926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FUENTE</a:t>
            </a:r>
            <a:endParaRPr lang="en-US" sz="1200" dirty="0"/>
          </a:p>
          <a:p>
            <a:pPr marL="0" indent="0">
              <a:spcAft>
                <a:spcPts val="200"/>
              </a:spcAft>
              <a:buNone/>
            </a:pPr>
            <a:r>
              <a:rPr lang="en-US" sz="1300" dirty="0">
                <a:solidFill>
                  <a:schemeClr val="tx1"/>
                </a:solidFill>
              </a:rPr>
              <a:t>W08b diap. 10–11 · W09a diap. 3–5 · RS criterios A y B · Siciliano §3.3.1–3.3.3</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Al acercar q5 a cero, la velocidad necesaria crece como 1/σ₆</a:t>
            </a:r>
            <a:endParaRPr lang="en-US" sz="3000" dirty="0"/>
          </a:p>
        </p:txBody>
      </p:sp>
      <p:graphicFrame>
        <p:nvGraphicFramePr>
          <p:cNvPr id="22" name="tabla-175"/>
          <p:cNvGraphicFramePr>
            <a:graphicFrameLocks noGrp="1"/>
          </p:cNvGraphicFramePr>
          <p:nvPr>
            <p:extLst>
              <p:ext uri="{D42A27DB-BD31-4B8C-83A1-F6EECF244321}">
                <p14:modId xmlns:p14="http://schemas.microsoft.com/office/powerpoint/2010/main" val="1579011935"/>
              </p:ext>
            </p:extLst>
          </p:nvPr>
        </p:nvGraphicFramePr>
        <p:xfrm>
          <a:off x="548640" y="1325880"/>
          <a:ext cx="5120640" cy="2688336"/>
        </p:xfrm>
        <a:graphic>
          <a:graphicData uri="http://schemas.openxmlformats.org/drawingml/2006/table">
            <a:tbl>
              <a:tblPr/>
              <a:tblGrid>
                <a:gridCol w="100584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384048">
                <a:tc>
                  <a:txBody>
                    <a:bodyPr/>
                    <a:lstStyle/>
                    <a:p>
                      <a:pPr marL="0" indent="0">
                        <a:buNone/>
                      </a:pPr>
                      <a:r>
                        <a:rPr lang="en-US" sz="1400" b="1" dirty="0">
                          <a:solidFill>
                            <a:schemeClr val="bg1"/>
                          </a:solidFill>
                        </a:rPr>
                        <a:t>q5 [°]</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σ₆</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Rango</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|q̇| = 1/σ₆ [rad/s]</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384048">
                <a:tc>
                  <a:txBody>
                    <a:bodyPr/>
                    <a:lstStyle/>
                    <a:p>
                      <a:pPr marL="0" indent="0">
                        <a:buNone/>
                      </a:pPr>
                      <a:r>
                        <a:rPr lang="en-US" sz="1400" dirty="0">
                          <a:solidFill>
                            <a:schemeClr val="tx1"/>
                          </a:solidFill>
                        </a:rPr>
                        <a:t>30</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0.160</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6</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6.3</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384048">
                <a:tc>
                  <a:txBody>
                    <a:bodyPr/>
                    <a:lstStyle/>
                    <a:p>
                      <a:pPr marL="0" indent="0">
                        <a:buNone/>
                      </a:pPr>
                      <a:r>
                        <a:rPr lang="en-US" sz="1400" dirty="0">
                          <a:solidFill>
                            <a:schemeClr val="tx1"/>
                          </a:solidFill>
                        </a:rPr>
                        <a:t>3</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0.0152</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6</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65.6</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384048">
                <a:tc>
                  <a:txBody>
                    <a:bodyPr/>
                    <a:lstStyle/>
                    <a:p>
                      <a:pPr marL="0" indent="0">
                        <a:buNone/>
                      </a:pPr>
                      <a:r>
                        <a:rPr lang="en-US" sz="1400" dirty="0">
                          <a:solidFill>
                            <a:schemeClr val="tx1"/>
                          </a:solidFill>
                        </a:rPr>
                        <a:t>1</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0.00499</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6</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200.6</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84048">
                <a:tc>
                  <a:txBody>
                    <a:bodyPr/>
                    <a:lstStyle/>
                    <a:p>
                      <a:pPr marL="0" indent="0">
                        <a:buNone/>
                      </a:pPr>
                      <a:r>
                        <a:rPr lang="en-US" sz="1400" dirty="0">
                          <a:solidFill>
                            <a:schemeClr val="tx1"/>
                          </a:solidFill>
                        </a:rPr>
                        <a:t>0.1</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0.000494</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6</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2 024</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384048">
                <a:tc>
                  <a:txBody>
                    <a:bodyPr/>
                    <a:lstStyle/>
                    <a:p>
                      <a:pPr marL="0" indent="0">
                        <a:buNone/>
                      </a:pPr>
                      <a:r>
                        <a:rPr lang="en-US" sz="1400" dirty="0">
                          <a:solidFill>
                            <a:schemeClr val="tx1"/>
                          </a:solidFill>
                        </a:rPr>
                        <a:t>0.01</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0.0000494</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6</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20 261</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384048">
                <a:tc>
                  <a:txBody>
                    <a:bodyPr/>
                    <a:lstStyle/>
                    <a:p>
                      <a:pPr marL="0" indent="0">
                        <a:buNone/>
                      </a:pPr>
                      <a:r>
                        <a:rPr lang="en-US" sz="1400" dirty="0">
                          <a:solidFill>
                            <a:schemeClr val="tx1"/>
                          </a:solidFill>
                        </a:rPr>
                        <a:t>0</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 10⁻¹⁸</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5</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t>
                      </a:r>
                      <a:endParaRPr lang="en-US" sz="14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pic>
        <p:nvPicPr>
          <p:cNvPr id="5" name="figura-176" descr="/tmp/claude-0/deck/P6_experimento_singularidad.png"/>
          <p:cNvPicPr>
            <a:picLocks noChangeAspect="1"/>
          </p:cNvPicPr>
          <p:nvPr/>
        </p:nvPicPr>
        <p:blipFill>
          <a:blip r:embed="rId3"/>
          <a:stretch>
            <a:fillRect/>
          </a:stretch>
        </p:blipFill>
        <p:spPr>
          <a:xfrm>
            <a:off x="5943600" y="1325880"/>
            <a:ext cx="5696712" cy="2278685"/>
          </a:xfrm>
          <a:prstGeom prst="rect">
            <a:avLst/>
          </a:prstGeom>
        </p:spPr>
      </p:pic>
      <p:sp>
        <p:nvSpPr>
          <p:cNvPr id="6" name="vinetas-177"/>
          <p:cNvSpPr txBox="1"/>
          <p:nvPr/>
        </p:nvSpPr>
        <p:spPr>
          <a:xfrm>
            <a:off x="5943600" y="3840480"/>
            <a:ext cx="5696712" cy="1463040"/>
          </a:xfrm>
          <a:prstGeom prst="rect">
            <a:avLst/>
          </a:prstGeom>
          <a:noFill/>
          <a:ln/>
        </p:spPr>
        <p:txBody>
          <a:bodyPr wrap="square" rtlCol="0" anchor="t"/>
          <a:lstStyle/>
          <a:p>
            <a:pPr marL="342900" indent="-342900">
              <a:spcAft>
                <a:spcPts val="600"/>
              </a:spcAft>
              <a:buSzPct val="100000"/>
              <a:buChar char="•"/>
            </a:pPr>
            <a:r>
              <a:rPr lang="en-US" sz="1400" dirty="0">
                <a:solidFill>
                  <a:schemeClr val="tx1"/>
                </a:solidFill>
              </a:rPr>
              <a:t>Movimiento nulo: q̇4 = −q̇6 gira dos motores y el TCP no se mueve</a:t>
            </a:r>
            <a:endParaRPr lang="en-US" sz="1400" dirty="0"/>
          </a:p>
          <a:p>
            <a:pPr marL="342900" indent="-342900">
              <a:spcAft>
                <a:spcPts val="600"/>
              </a:spcAft>
              <a:buSzPct val="100000"/>
              <a:buChar char="•"/>
            </a:pPr>
            <a:r>
              <a:rPr lang="en-US" sz="1400" dirty="0">
                <a:solidFill>
                  <a:schemeClr val="tx1"/>
                </a:solidFill>
              </a:rPr>
              <a:t>Se pierde la rotación alrededor de z₃ × z₄</a:t>
            </a:r>
            <a:endParaRPr lang="en-US" sz="1400" dirty="0"/>
          </a:p>
          <a:p>
            <a:pPr marL="342900" indent="-342900">
              <a:spcAft>
                <a:spcPts val="600"/>
              </a:spcAft>
              <a:buSzPct val="100000"/>
              <a:buChar char="•"/>
            </a:pPr>
            <a:r>
              <a:rPr lang="en-US" sz="1400" dirty="0">
                <a:solidFill>
                  <a:schemeClr val="tx1"/>
                </a:solidFill>
              </a:rPr>
              <a:t>q_i ya es singular, pero la trayectoria es articular: nunca se invierte J</a:t>
            </a:r>
            <a:endParaRPr lang="en-US" sz="1400" dirty="0"/>
          </a:p>
        </p:txBody>
      </p:sp>
      <p:sp>
        <p:nvSpPr>
          <p:cNvPr id="7" name="tarjeta-CÓDIGO-178"/>
          <p:cNvSpPr/>
          <p:nvPr/>
        </p:nvSpPr>
        <p:spPr>
          <a:xfrm>
            <a:off x="548640" y="5349240"/>
            <a:ext cx="5394960" cy="868680"/>
          </a:xfrm>
          <a:prstGeom prst="roundRect">
            <a:avLst>
              <a:gd name="adj" fmla="val 8421"/>
            </a:avLst>
          </a:prstGeom>
          <a:solidFill>
            <a:schemeClr val="accent5"/>
          </a:solidFill>
          <a:ln w="12700">
            <a:solidFill>
              <a:schemeClr val="accent5"/>
            </a:solidFill>
            <a:prstDash val="solid"/>
          </a:ln>
        </p:spPr>
      </p:sp>
      <p:sp>
        <p:nvSpPr>
          <p:cNvPr id="8" name="texto-CÓDIGO-179"/>
          <p:cNvSpPr txBox="1"/>
          <p:nvPr/>
        </p:nvSpPr>
        <p:spPr>
          <a:xfrm>
            <a:off x="731520" y="5458968"/>
            <a:ext cx="5029200" cy="64922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CÓDIGO</a:t>
            </a:r>
            <a:endParaRPr lang="en-US" sz="1200" dirty="0"/>
          </a:p>
          <a:p>
            <a:pPr marL="0" indent="0">
              <a:spcAft>
                <a:spcPts val="200"/>
              </a:spcAft>
              <a:buNone/>
            </a:pPr>
            <a:r>
              <a:rPr lang="en-US" sz="1300" dirty="0">
                <a:solidFill>
                  <a:schemeClr val="tx1"/>
                </a:solidFill>
              </a:rPr>
              <a:t>Notebook celda 56 (experimento) y celda 58 (v₆, u₆) · jacobiano.analisis_rango</a:t>
            </a:r>
            <a:endParaRPr lang="en-US" sz="1200" dirty="0"/>
          </a:p>
        </p:txBody>
      </p:sp>
      <p:sp>
        <p:nvSpPr>
          <p:cNvPr id="9" name="tarjeta-FUENTE-180"/>
          <p:cNvSpPr/>
          <p:nvPr/>
        </p:nvSpPr>
        <p:spPr>
          <a:xfrm>
            <a:off x="6217920" y="5349240"/>
            <a:ext cx="5422392" cy="868680"/>
          </a:xfrm>
          <a:prstGeom prst="roundRect">
            <a:avLst>
              <a:gd name="adj" fmla="val 8421"/>
            </a:avLst>
          </a:prstGeom>
          <a:solidFill>
            <a:schemeClr val="accent4"/>
          </a:solidFill>
          <a:ln w="12700">
            <a:solidFill>
              <a:schemeClr val="accent4"/>
            </a:solidFill>
            <a:prstDash val="solid"/>
          </a:ln>
        </p:spPr>
      </p:sp>
      <p:sp>
        <p:nvSpPr>
          <p:cNvPr id="10" name="texto-FUENTE-181"/>
          <p:cNvSpPr txBox="1"/>
          <p:nvPr/>
        </p:nvSpPr>
        <p:spPr>
          <a:xfrm>
            <a:off x="6400800" y="5458968"/>
            <a:ext cx="5056632" cy="64922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FUENTE</a:t>
            </a:r>
            <a:endParaRPr lang="en-US" sz="1200" dirty="0"/>
          </a:p>
          <a:p>
            <a:pPr marL="0" indent="0">
              <a:spcAft>
                <a:spcPts val="200"/>
              </a:spcAft>
              <a:buNone/>
            </a:pPr>
            <a:r>
              <a:rPr lang="en-US" sz="1300" dirty="0">
                <a:solidFill>
                  <a:schemeClr val="tx1"/>
                </a:solidFill>
              </a:rPr>
              <a:t>W08b diap. 13 · W09a diap. 6 · RS sección 4 · G2 §3.3 (secuencia hacia una singularidad conocida)</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insignia-182"/>
          <p:cNvSpPr/>
          <p:nvPr/>
        </p:nvSpPr>
        <p:spPr>
          <a:xfrm>
            <a:off x="822960" y="2331720"/>
            <a:ext cx="1234440" cy="1234440"/>
          </a:xfrm>
          <a:prstGeom prst="ellipse">
            <a:avLst/>
          </a:prstGeom>
          <a:solidFill>
            <a:schemeClr val="accent1"/>
          </a:solidFill>
          <a:ln w="12700">
            <a:solidFill>
              <a:schemeClr val="accent1"/>
            </a:solidFill>
            <a:prstDash val="solid"/>
          </a:ln>
        </p:spPr>
      </p:sp>
      <p:sp>
        <p:nvSpPr>
          <p:cNvPr id="3" name="numero-183"/>
          <p:cNvSpPr txBox="1"/>
          <p:nvPr/>
        </p:nvSpPr>
        <p:spPr>
          <a:xfrm>
            <a:off x="822960" y="2331720"/>
            <a:ext cx="1234440" cy="1234440"/>
          </a:xfrm>
          <a:prstGeom prst="rect">
            <a:avLst/>
          </a:prstGeom>
          <a:noFill/>
          <a:ln/>
        </p:spPr>
        <p:txBody>
          <a:bodyPr wrap="square" lIns="0" tIns="0" rIns="0" bIns="0" rtlCol="0" anchor="ctr"/>
          <a:lstStyle/>
          <a:p>
            <a:pPr marL="0" indent="0" algn="ctr">
              <a:buNone/>
            </a:pPr>
            <a:r>
              <a:rPr lang="en-US" sz="4000" b="1" dirty="0">
                <a:solidFill>
                  <a:schemeClr val="bg1"/>
                </a:solidFill>
                <a:latin typeface="Cambria" pitchFamily="34" charset="0"/>
                <a:ea typeface="Cambria" pitchFamily="34" charset="-122"/>
                <a:cs typeface="Cambria" pitchFamily="34" charset="-120"/>
              </a:rPr>
              <a:t>6</a:t>
            </a:r>
            <a:endParaRPr lang="en-US" sz="4000" dirty="0"/>
          </a:p>
        </p:txBody>
      </p:sp>
      <p:sp>
        <p:nvSpPr>
          <p:cNvPr id="4" name="Text 0"/>
          <p:cNvSpPr>
            <a:spLocks noGrp="1"/>
          </p:cNvSpPr>
          <p:nvPr>
            <p:ph type="title" idx="100" hasCustomPrompt="1"/>
          </p:nvPr>
        </p:nvSpPr>
        <p:spPr>
          <a:xfrm>
            <a:off x="2377440" y="2377440"/>
            <a:ext cx="9052560" cy="1097280"/>
          </a:xfrm>
          <a:prstGeom prst="rect">
            <a:avLst/>
          </a:prstGeom>
          <a:noFill/>
          <a:ln/>
        </p:spPr>
        <p:txBody>
          <a:bodyPr wrap="square" rtlCol="0" anchor="ctr"/>
          <a:lstStyle/>
          <a:p>
            <a:pPr marL="0" indent="0" algn="l">
              <a:buNone/>
            </a:pPr>
            <a:r>
              <a:rPr lang="en-US" sz="4000" b="1" dirty="0">
                <a:solidFill>
                  <a:schemeClr val="bg1"/>
                </a:solidFill>
                <a:latin typeface="Cambria" pitchFamily="34" charset="0"/>
                <a:ea typeface="Cambria" pitchFamily="34" charset="-122"/>
                <a:cs typeface="Cambria" pitchFamily="34" charset="-120"/>
              </a:rPr>
              <a:t>Dinámica reducida 1R sobre la LSPB</a:t>
            </a:r>
            <a:endParaRPr lang="en-US" sz="4000" dirty="0"/>
          </a:p>
        </p:txBody>
      </p:sp>
      <p:sp>
        <p:nvSpPr>
          <p:cNvPr id="5" name="Text 0"/>
          <p:cNvSpPr>
            <a:spLocks noGrp="1"/>
          </p:cNvSpPr>
          <p:nvPr>
            <p:ph type="body" idx="101" hasCustomPrompt="1"/>
          </p:nvPr>
        </p:nvSpPr>
        <p:spPr>
          <a:xfrm>
            <a:off x="2377440" y="3474720"/>
            <a:ext cx="9052560" cy="1280160"/>
          </a:xfrm>
          <a:prstGeom prst="rect">
            <a:avLst/>
          </a:prstGeom>
          <a:noFill/>
          <a:ln/>
        </p:spPr>
        <p:txBody>
          <a:bodyPr wrap="square" rtlCol="0" anchor="t"/>
          <a:lstStyle/>
          <a:p>
            <a:pPr marL="0" indent="0">
              <a:buNone/>
            </a:pPr>
            <a:r>
              <a:rPr lang="en-US" sz="1800" dirty="0">
                <a:solidFill>
                  <a:schemeClr val="bg2"/>
                </a:solidFill>
              </a:rPr>
              <a:t>El esfuerzo que pide el codo a lo largo de la trayectoria</a:t>
            </a:r>
            <a:endParaRPr lang="en-US" sz="1800" dirty="0"/>
          </a:p>
          <a:p>
            <a:pPr marL="0" indent="0">
              <a:buNone/>
            </a:pPr>
            <a:r>
              <a:rPr lang="en-US" sz="1800" dirty="0">
                <a:solidFill>
                  <a:schemeClr val="bg2"/>
                </a:solidFill>
              </a:rPr>
              <a:t>dinamica.py · celdas 59–76</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Euler-Lagrange da el modelo 1R que pide la guía</a:t>
            </a:r>
            <a:endParaRPr lang="en-US" sz="3000" dirty="0"/>
          </a:p>
        </p:txBody>
      </p:sp>
      <p:sp>
        <p:nvSpPr>
          <p:cNvPr id="4" name="caja-ecuaciones-184"/>
          <p:cNvSpPr/>
          <p:nvPr/>
        </p:nvSpPr>
        <p:spPr>
          <a:xfrm>
            <a:off x="548640" y="1280160"/>
            <a:ext cx="6766560" cy="1961804"/>
          </a:xfrm>
          <a:prstGeom prst="roundRect">
            <a:avLst>
              <a:gd name="adj" fmla="val 3729"/>
            </a:avLst>
          </a:prstGeom>
          <a:solidFill>
            <a:schemeClr val="bg2"/>
          </a:solidFill>
          <a:ln w="12700">
            <a:solidFill>
              <a:schemeClr val="bg2"/>
            </a:solidFill>
            <a:prstDash val="solid"/>
          </a:ln>
        </p:spPr>
      </p:sp>
      <p:pic>
        <p:nvPicPr>
          <p:cNvPr id="5" name="ecuacion-dyn-185" descr="/tmp/claude-0/deck/eq/dyn.png"/>
          <p:cNvPicPr>
            <a:picLocks noChangeAspect="1"/>
          </p:cNvPicPr>
          <p:nvPr/>
        </p:nvPicPr>
        <p:blipFill>
          <a:blip r:embed="rId3"/>
          <a:stretch>
            <a:fillRect/>
          </a:stretch>
        </p:blipFill>
        <p:spPr>
          <a:xfrm>
            <a:off x="777240" y="1508760"/>
            <a:ext cx="2896985" cy="349758"/>
          </a:xfrm>
          <a:prstGeom prst="rect">
            <a:avLst/>
          </a:prstGeom>
        </p:spPr>
      </p:pic>
      <p:pic>
        <p:nvPicPr>
          <p:cNvPr id="6" name="ecuacion-lag-186" descr="/tmp/claude-0/deck/eq/lag.png"/>
          <p:cNvPicPr>
            <a:picLocks noChangeAspect="1"/>
          </p:cNvPicPr>
          <p:nvPr/>
        </p:nvPicPr>
        <p:blipFill>
          <a:blip r:embed="rId4"/>
          <a:stretch>
            <a:fillRect/>
          </a:stretch>
        </p:blipFill>
        <p:spPr>
          <a:xfrm>
            <a:off x="777240" y="2059686"/>
            <a:ext cx="4659907" cy="399219"/>
          </a:xfrm>
          <a:prstGeom prst="rect">
            <a:avLst/>
          </a:prstGeom>
        </p:spPr>
      </p:pic>
      <p:pic>
        <p:nvPicPr>
          <p:cNvPr id="7" name="ecuacion-tau-187" descr="/tmp/claude-0/deck/eq/tau.png"/>
          <p:cNvPicPr>
            <a:picLocks noChangeAspect="1"/>
          </p:cNvPicPr>
          <p:nvPr/>
        </p:nvPicPr>
        <p:blipFill>
          <a:blip r:embed="rId5"/>
          <a:stretch>
            <a:fillRect/>
          </a:stretch>
        </p:blipFill>
        <p:spPr>
          <a:xfrm>
            <a:off x="777240" y="2660073"/>
            <a:ext cx="3935661" cy="353291"/>
          </a:xfrm>
          <a:prstGeom prst="rect">
            <a:avLst/>
          </a:prstGeom>
        </p:spPr>
      </p:pic>
      <p:sp>
        <p:nvSpPr>
          <p:cNvPr id="8" name="tarjeta-VALIDACIÓN CONTRA CLASE (6/6)-188"/>
          <p:cNvSpPr/>
          <p:nvPr/>
        </p:nvSpPr>
        <p:spPr>
          <a:xfrm>
            <a:off x="7589520" y="1280160"/>
            <a:ext cx="4050792" cy="1828800"/>
          </a:xfrm>
          <a:prstGeom prst="roundRect">
            <a:avLst>
              <a:gd name="adj" fmla="val 4000"/>
            </a:avLst>
          </a:prstGeom>
          <a:solidFill>
            <a:schemeClr val="bg2"/>
          </a:solidFill>
          <a:ln w="12700">
            <a:solidFill>
              <a:schemeClr val="bg2"/>
            </a:solidFill>
            <a:prstDash val="solid"/>
          </a:ln>
        </p:spPr>
      </p:sp>
      <p:sp>
        <p:nvSpPr>
          <p:cNvPr id="9" name="texto-VALIDACIÓN CONTRA CLASE (6/6)-189"/>
          <p:cNvSpPr txBox="1"/>
          <p:nvPr/>
        </p:nvSpPr>
        <p:spPr>
          <a:xfrm>
            <a:off x="7772400" y="1389888"/>
            <a:ext cx="3685032" cy="16093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VALIDACIÓN CONTRA CLASE (6/6)</a:t>
            </a:r>
            <a:endParaRPr lang="en-US" sz="1200" dirty="0"/>
          </a:p>
          <a:p>
            <a:pPr marL="0" indent="0">
              <a:spcAft>
                <a:spcPts val="200"/>
              </a:spcAft>
              <a:buNone/>
            </a:pPr>
            <a:r>
              <a:rPr lang="en-US" sz="1300" dirty="0">
                <a:solidFill>
                  <a:schemeClr val="tx1"/>
                </a:solidFill>
              </a:rPr>
              <a:t>τ(0) = 0 y τ(π/2) = mgℓc · ej. 3: τ(π/6) = 3.924 N·m · ej. 4: τ_I = 1.2 N·m · tabla diap. 8: 0.86, 4.13 y 4.43 N·m</a:t>
            </a:r>
            <a:endParaRPr lang="en-US" sz="1200" dirty="0"/>
          </a:p>
        </p:txBody>
      </p:sp>
      <p:sp>
        <p:nvSpPr>
          <p:cNvPr id="10" name="tarjeta-POR QUÉ C = 0-190"/>
          <p:cNvSpPr/>
          <p:nvPr/>
        </p:nvSpPr>
        <p:spPr>
          <a:xfrm>
            <a:off x="7589520" y="3291840"/>
            <a:ext cx="4050792" cy="1325880"/>
          </a:xfrm>
          <a:prstGeom prst="roundRect">
            <a:avLst>
              <a:gd name="adj" fmla="val 5517"/>
            </a:avLst>
          </a:prstGeom>
          <a:solidFill>
            <a:schemeClr val="bg2"/>
          </a:solidFill>
          <a:ln w="12700">
            <a:solidFill>
              <a:schemeClr val="bg2"/>
            </a:solidFill>
            <a:prstDash val="solid"/>
          </a:ln>
        </p:spPr>
      </p:sp>
      <p:sp>
        <p:nvSpPr>
          <p:cNvPr id="11" name="texto-POR QUÉ C = 0-191"/>
          <p:cNvSpPr txBox="1"/>
          <p:nvPr/>
        </p:nvSpPr>
        <p:spPr>
          <a:xfrm>
            <a:off x="7772400" y="3401568"/>
            <a:ext cx="3685032" cy="110642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POR QUÉ C = 0</a:t>
            </a:r>
            <a:endParaRPr lang="en-US" sz="1200" dirty="0"/>
          </a:p>
          <a:p>
            <a:pPr marL="0" indent="0">
              <a:spcAft>
                <a:spcPts val="200"/>
              </a:spcAft>
              <a:buNone/>
            </a:pPr>
            <a:r>
              <a:rPr lang="en-US" sz="1300" dirty="0">
                <a:solidFill>
                  <a:schemeClr val="tx1"/>
                </a:solidFill>
              </a:rPr>
              <a:t>En un solo eslabón no hay acoplamiento entre juntas. En el robot completo sí existe (W09b diap. 6, nota).</a:t>
            </a:r>
            <a:endParaRPr lang="en-US" sz="1200" dirty="0"/>
          </a:p>
        </p:txBody>
      </p:sp>
      <p:sp>
        <p:nvSpPr>
          <p:cNvPr id="12" name="tarjeta-CÓDIGO-192"/>
          <p:cNvSpPr/>
          <p:nvPr/>
        </p:nvSpPr>
        <p:spPr>
          <a:xfrm>
            <a:off x="548640" y="5074920"/>
            <a:ext cx="5394960" cy="1143000"/>
          </a:xfrm>
          <a:prstGeom prst="roundRect">
            <a:avLst>
              <a:gd name="adj" fmla="val 6400"/>
            </a:avLst>
          </a:prstGeom>
          <a:solidFill>
            <a:schemeClr val="accent5"/>
          </a:solidFill>
          <a:ln w="12700">
            <a:solidFill>
              <a:schemeClr val="accent5"/>
            </a:solidFill>
            <a:prstDash val="solid"/>
          </a:ln>
        </p:spPr>
      </p:sp>
      <p:sp>
        <p:nvSpPr>
          <p:cNvPr id="13" name="texto-CÓDIGO-193"/>
          <p:cNvSpPr txBox="1"/>
          <p:nvPr/>
        </p:nvSpPr>
        <p:spPr>
          <a:xfrm>
            <a:off x="731520" y="5184648"/>
            <a:ext cx="5029200" cy="9235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CÓDIGO</a:t>
            </a:r>
            <a:endParaRPr lang="en-US" sz="1200" dirty="0"/>
          </a:p>
          <a:p>
            <a:pPr marL="0" indent="0">
              <a:spcAft>
                <a:spcPts val="200"/>
              </a:spcAft>
              <a:buNone/>
            </a:pPr>
            <a:r>
              <a:rPr lang="en-US" sz="1300" dirty="0">
                <a:solidFill>
                  <a:schemeClr val="tx1"/>
                </a:solidFill>
              </a:rPr>
              <a:t>dinamica.py:31 tau_1r · :34 t_in = J·q̈ · :35 t_g = m g lc sin q · celda 63 validaciones</a:t>
            </a:r>
            <a:endParaRPr lang="en-US" sz="1200" dirty="0"/>
          </a:p>
        </p:txBody>
      </p:sp>
      <p:sp>
        <p:nvSpPr>
          <p:cNvPr id="14" name="tarjeta-FUENTE-194"/>
          <p:cNvSpPr/>
          <p:nvPr/>
        </p:nvSpPr>
        <p:spPr>
          <a:xfrm>
            <a:off x="6217920" y="5074920"/>
            <a:ext cx="5422392" cy="1143000"/>
          </a:xfrm>
          <a:prstGeom prst="roundRect">
            <a:avLst>
              <a:gd name="adj" fmla="val 6400"/>
            </a:avLst>
          </a:prstGeom>
          <a:solidFill>
            <a:schemeClr val="accent4"/>
          </a:solidFill>
          <a:ln w="12700">
            <a:solidFill>
              <a:schemeClr val="accent4"/>
            </a:solidFill>
            <a:prstDash val="solid"/>
          </a:ln>
        </p:spPr>
      </p:sp>
      <p:sp>
        <p:nvSpPr>
          <p:cNvPr id="15" name="texto-FUENTE-195"/>
          <p:cNvSpPr txBox="1"/>
          <p:nvPr/>
        </p:nvSpPr>
        <p:spPr>
          <a:xfrm>
            <a:off x="6400800" y="5184648"/>
            <a:ext cx="5056632" cy="9235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FUENTE</a:t>
            </a:r>
            <a:endParaRPr lang="en-US" sz="1200" dirty="0"/>
          </a:p>
          <a:p>
            <a:pPr marL="0" indent="0">
              <a:spcAft>
                <a:spcPts val="200"/>
              </a:spcAft>
              <a:buNone/>
            </a:pPr>
            <a:r>
              <a:rPr lang="en-US" sz="1300" dirty="0">
                <a:solidFill>
                  <a:schemeClr val="tx1"/>
                </a:solidFill>
              </a:rPr>
              <a:t>W09b diap. 2–6 · handoff W09-S01 · solucionario W09-S02 ej. 2–4 · G2 §3.4</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El codo pide su pico de torque sin estar acelerando</a:t>
            </a:r>
            <a:endParaRPr lang="en-US" sz="3000" dirty="0"/>
          </a:p>
        </p:txBody>
      </p:sp>
      <p:sp>
        <p:nvSpPr>
          <p:cNvPr id="4" name="caja-ecuaciones-196"/>
          <p:cNvSpPr/>
          <p:nvPr/>
        </p:nvSpPr>
        <p:spPr>
          <a:xfrm>
            <a:off x="548640" y="1280160"/>
            <a:ext cx="6035040" cy="1645920"/>
          </a:xfrm>
          <a:prstGeom prst="roundRect">
            <a:avLst>
              <a:gd name="adj" fmla="val 4444"/>
            </a:avLst>
          </a:prstGeom>
          <a:solidFill>
            <a:schemeClr val="bg2"/>
          </a:solidFill>
          <a:ln w="12700">
            <a:solidFill>
              <a:schemeClr val="bg2"/>
            </a:solidFill>
            <a:prstDash val="solid"/>
          </a:ln>
        </p:spPr>
      </p:sp>
      <p:pic>
        <p:nvPicPr>
          <p:cNvPr id="5" name="ecuacion-theta-197" descr="/tmp/claude-0/deck/eq/theta.png"/>
          <p:cNvPicPr>
            <a:picLocks noChangeAspect="1"/>
          </p:cNvPicPr>
          <p:nvPr/>
        </p:nvPicPr>
        <p:blipFill>
          <a:blip r:embed="rId3"/>
          <a:stretch>
            <a:fillRect/>
          </a:stretch>
        </p:blipFill>
        <p:spPr>
          <a:xfrm>
            <a:off x="777240" y="1508760"/>
            <a:ext cx="3630999" cy="329184"/>
          </a:xfrm>
          <a:prstGeom prst="rect">
            <a:avLst/>
          </a:prstGeom>
        </p:spPr>
      </p:pic>
      <p:pic>
        <p:nvPicPr>
          <p:cNvPr id="6" name="ecuacion-energy-198" descr="/tmp/claude-0/deck/eq/energy.png"/>
          <p:cNvPicPr>
            <a:picLocks noChangeAspect="1"/>
          </p:cNvPicPr>
          <p:nvPr/>
        </p:nvPicPr>
        <p:blipFill>
          <a:blip r:embed="rId4"/>
          <a:stretch>
            <a:fillRect/>
          </a:stretch>
        </p:blipFill>
        <p:spPr>
          <a:xfrm>
            <a:off x="777240" y="2039112"/>
            <a:ext cx="4282717" cy="658368"/>
          </a:xfrm>
          <a:prstGeom prst="rect">
            <a:avLst/>
          </a:prstGeom>
        </p:spPr>
      </p:pic>
      <p:pic>
        <p:nvPicPr>
          <p:cNvPr id="7" name="figura-199" descr="/tmp/claude-0/deck/P7_torque_1R.png"/>
          <p:cNvPicPr>
            <a:picLocks noChangeAspect="1"/>
          </p:cNvPicPr>
          <p:nvPr/>
        </p:nvPicPr>
        <p:blipFill>
          <a:blip r:embed="rId5"/>
          <a:stretch>
            <a:fillRect/>
          </a:stretch>
        </p:blipFill>
        <p:spPr>
          <a:xfrm>
            <a:off x="7397496" y="1234440"/>
            <a:ext cx="3703320" cy="3703320"/>
          </a:xfrm>
          <a:prstGeom prst="rect">
            <a:avLst/>
          </a:prstGeom>
        </p:spPr>
      </p:pic>
      <p:sp>
        <p:nvSpPr>
          <p:cNvPr id="8" name="vinetas-200"/>
          <p:cNvSpPr txBox="1"/>
          <p:nvPr/>
        </p:nvSpPr>
        <p:spPr>
          <a:xfrm>
            <a:off x="548640" y="3291840"/>
            <a:ext cx="6035040" cy="1097280"/>
          </a:xfrm>
          <a:prstGeom prst="rect">
            <a:avLst/>
          </a:prstGeom>
          <a:noFill/>
          <a:ln/>
        </p:spPr>
        <p:txBody>
          <a:bodyPr wrap="square" rtlCol="0" anchor="t"/>
          <a:lstStyle/>
          <a:p>
            <a:pPr marL="342900" indent="-342900">
              <a:spcAft>
                <a:spcPts val="600"/>
              </a:spcAft>
              <a:buSzPct val="100000"/>
              <a:buChar char="•"/>
            </a:pPr>
            <a:r>
              <a:rPr lang="en-US" sz="1500" dirty="0">
                <a:solidFill>
                  <a:schemeClr val="tx1"/>
                </a:solidFill>
              </a:rPr>
              <a:t>τ_I copia θ'': escalones en t_c y t_f − t_c</a:t>
            </a:r>
            <a:endParaRPr lang="en-US" sz="1500" dirty="0"/>
          </a:p>
          <a:p>
            <a:pPr marL="342900" indent="-342900">
              <a:spcAft>
                <a:spcPts val="600"/>
              </a:spcAft>
              <a:buSzPct val="100000"/>
              <a:buChar char="•"/>
            </a:pPr>
            <a:r>
              <a:rPr lang="en-US" sz="1500" dirty="0">
                <a:solidFill>
                  <a:schemeClr val="tx1"/>
                </a:solidFill>
              </a:rPr>
              <a:t>τ_g suave como sin θ: depende solo de la postura</a:t>
            </a:r>
            <a:endParaRPr lang="en-US" sz="1500" dirty="0"/>
          </a:p>
          <a:p>
            <a:pPr marL="342900" indent="-342900">
              <a:spcAft>
                <a:spcPts val="600"/>
              </a:spcAft>
              <a:buSzPct val="100000"/>
              <a:buChar char="•"/>
            </a:pPr>
            <a:r>
              <a:rPr lang="en-US" sz="1500" dirty="0">
                <a:solidFill>
                  <a:schemeClr val="tx1"/>
                </a:solidFill>
              </a:rPr>
              <a:t>Pico |τ| = 1.52 N·m en velocidad constante, antebrazo horizontal</a:t>
            </a:r>
            <a:endParaRPr lang="en-US" sz="1500" dirty="0"/>
          </a:p>
        </p:txBody>
      </p:sp>
      <p:sp>
        <p:nvSpPr>
          <p:cNvPr id="9" name="decision-201"/>
          <p:cNvSpPr/>
          <p:nvPr/>
        </p:nvSpPr>
        <p:spPr>
          <a:xfrm>
            <a:off x="548640" y="4114800"/>
            <a:ext cx="6035040" cy="731520"/>
          </a:xfrm>
          <a:prstGeom prst="roundRect">
            <a:avLst>
              <a:gd name="adj" fmla="val 10000"/>
            </a:avLst>
          </a:prstGeom>
          <a:solidFill>
            <a:schemeClr val="bg1"/>
          </a:solidFill>
          <a:ln w="19050">
            <a:solidFill>
              <a:schemeClr val="accent1"/>
            </a:solidFill>
            <a:prstDash val="solid"/>
          </a:ln>
        </p:spPr>
      </p:sp>
      <p:sp>
        <p:nvSpPr>
          <p:cNvPr id="10" name="texto-decision-202"/>
          <p:cNvSpPr txBox="1"/>
          <p:nvPr/>
        </p:nvSpPr>
        <p:spPr>
          <a:xfrm>
            <a:off x="731520" y="4187952"/>
            <a:ext cx="5669280" cy="585216"/>
          </a:xfrm>
          <a:prstGeom prst="rect">
            <a:avLst/>
          </a:prstGeom>
          <a:noFill/>
          <a:ln/>
        </p:spPr>
        <p:txBody>
          <a:bodyPr wrap="square" lIns="0" tIns="0" rIns="0" bIns="0" rtlCol="0" anchor="ctr"/>
          <a:lstStyle/>
          <a:p>
            <a:pPr marL="0" indent="0">
              <a:buNone/>
            </a:pPr>
            <a:r>
              <a:rPr lang="en-US" sz="1200" b="1" dirty="0">
                <a:solidFill>
                  <a:schemeClr val="accent1"/>
                </a:solidFill>
              </a:rPr>
              <a:t>DECISIÓN DEL GRUPO  </a:t>
            </a:r>
            <a:r>
              <a:rPr lang="en-US" sz="1300" dirty="0">
                <a:solidFill>
                  <a:schemeClr val="tx1"/>
                </a:solidFill>
              </a:rPr>
              <a:t>Codo como 1R · θ = q2 + q3 − δ − π/2 · m = 1 kg ilustrativa y barra uniforme (ABB no publica masas)</a:t>
            </a:r>
            <a:endParaRPr lang="en-US" sz="1200" dirty="0"/>
          </a:p>
        </p:txBody>
      </p:sp>
      <p:sp>
        <p:nvSpPr>
          <p:cNvPr id="11" name="tarjeta-CÓDIGO-203"/>
          <p:cNvSpPr/>
          <p:nvPr/>
        </p:nvSpPr>
        <p:spPr>
          <a:xfrm>
            <a:off x="548640" y="5074920"/>
            <a:ext cx="5394960" cy="1143000"/>
          </a:xfrm>
          <a:prstGeom prst="roundRect">
            <a:avLst>
              <a:gd name="adj" fmla="val 6400"/>
            </a:avLst>
          </a:prstGeom>
          <a:solidFill>
            <a:schemeClr val="accent5"/>
          </a:solidFill>
          <a:ln w="12700">
            <a:solidFill>
              <a:schemeClr val="accent5"/>
            </a:solidFill>
            <a:prstDash val="solid"/>
          </a:ln>
        </p:spPr>
      </p:sp>
      <p:sp>
        <p:nvSpPr>
          <p:cNvPr id="12" name="texto-CÓDIGO-204"/>
          <p:cNvSpPr txBox="1"/>
          <p:nvPr/>
        </p:nvSpPr>
        <p:spPr>
          <a:xfrm>
            <a:off x="731520" y="5184648"/>
            <a:ext cx="5029200" cy="9235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CÓDIGO</a:t>
            </a:r>
            <a:endParaRPr lang="en-US" sz="1200" dirty="0"/>
          </a:p>
          <a:p>
            <a:pPr marL="0" indent="0">
              <a:spcAft>
                <a:spcPts val="200"/>
              </a:spcAft>
              <a:buNone/>
            </a:pPr>
            <a:r>
              <a:rPr lang="en-US" sz="1300" dirty="0">
                <a:solidFill>
                  <a:schemeClr val="tx1"/>
                </a:solidFill>
              </a:rPr>
              <a:t>dinamica.py:39 angulo_antebrazo · :23–28 parámetros · :45 tau_gravedad_exacta (validación 3D) · celdas 65–70</a:t>
            </a:r>
            <a:endParaRPr lang="en-US" sz="1200" dirty="0"/>
          </a:p>
        </p:txBody>
      </p:sp>
      <p:sp>
        <p:nvSpPr>
          <p:cNvPr id="13" name="tarjeta-FUENTE-205"/>
          <p:cNvSpPr/>
          <p:nvPr/>
        </p:nvSpPr>
        <p:spPr>
          <a:xfrm>
            <a:off x="6217920" y="5074920"/>
            <a:ext cx="5422392" cy="1143000"/>
          </a:xfrm>
          <a:prstGeom prst="roundRect">
            <a:avLst>
              <a:gd name="adj" fmla="val 6400"/>
            </a:avLst>
          </a:prstGeom>
          <a:solidFill>
            <a:schemeClr val="accent4"/>
          </a:solidFill>
          <a:ln w="12700">
            <a:solidFill>
              <a:schemeClr val="accent4"/>
            </a:solidFill>
            <a:prstDash val="solid"/>
          </a:ln>
        </p:spPr>
      </p:sp>
      <p:sp>
        <p:nvSpPr>
          <p:cNvPr id="14" name="texto-FUENTE-206"/>
          <p:cNvSpPr txBox="1"/>
          <p:nvPr/>
        </p:nvSpPr>
        <p:spPr>
          <a:xfrm>
            <a:off x="6400800" y="5184648"/>
            <a:ext cx="5056632" cy="9235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FUENTE</a:t>
            </a:r>
            <a:endParaRPr lang="en-US" sz="1200" dirty="0"/>
          </a:p>
          <a:p>
            <a:pPr marL="0" indent="0">
              <a:spcAft>
                <a:spcPts val="200"/>
              </a:spcAft>
              <a:buNone/>
            </a:pPr>
            <a:r>
              <a:rPr lang="en-US" sz="1300" dirty="0">
                <a:solidFill>
                  <a:schemeClr val="tx1"/>
                </a:solidFill>
              </a:rPr>
              <a:t>W09b diap. 4–5, 7–8 · código torque 1R W09-S02 (interpretación obligatoria) · G2 §2.1, §3.4</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Aceleración nula no es torque cero, y singular no es torque alto</a:t>
            </a:r>
            <a:endParaRPr lang="en-US" sz="3000" dirty="0"/>
          </a:p>
        </p:txBody>
      </p:sp>
      <p:graphicFrame>
        <p:nvGraphicFramePr>
          <p:cNvPr id="26" name="tabla-207"/>
          <p:cNvGraphicFramePr>
            <a:graphicFrameLocks noGrp="1"/>
          </p:cNvGraphicFramePr>
          <p:nvPr>
            <p:extLst>
              <p:ext uri="{D42A27DB-BD31-4B8C-83A1-F6EECF244321}">
                <p14:modId xmlns:p14="http://schemas.microsoft.com/office/powerpoint/2010/main" val="1579011935"/>
              </p:ext>
            </p:extLst>
          </p:nvPr>
        </p:nvGraphicFramePr>
        <p:xfrm>
          <a:off x="548640" y="1325880"/>
          <a:ext cx="6949440" cy="1645920"/>
        </p:xfrm>
        <a:graphic>
          <a:graphicData uri="http://schemas.openxmlformats.org/drawingml/2006/table">
            <a:tbl>
              <a:tblPr/>
              <a:tblGrid>
                <a:gridCol w="25603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tblGrid>
              <a:tr h="411480">
                <a:tc>
                  <a:txBody>
                    <a:bodyPr/>
                    <a:lstStyle/>
                    <a:p>
                      <a:pPr marL="0" indent="0">
                        <a:buNone/>
                      </a:pPr>
                      <a:r>
                        <a:rPr lang="en-US" sz="1300" b="1" dirty="0">
                          <a:solidFill>
                            <a:schemeClr val="bg1"/>
                          </a:solidFill>
                        </a:rPr>
                        <a:t>Fase</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θ'' [rad/s²]</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τ_I [N·m]</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τ_g [N·m]</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τ [N·m]</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11480">
                <a:tc>
                  <a:txBody>
                    <a:bodyPr/>
                    <a:lstStyle/>
                    <a:p>
                      <a:pPr marL="0" indent="0">
                        <a:buNone/>
                      </a:pPr>
                      <a:r>
                        <a:rPr lang="en-US" sz="1300" dirty="0">
                          <a:solidFill>
                            <a:schemeClr val="tx1"/>
                          </a:solidFill>
                        </a:rPr>
                        <a:t>Aceleración (t = 0.125 s)</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2.63</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0.084</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−1.488</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−1.404</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1480">
                <a:tc>
                  <a:txBody>
                    <a:bodyPr/>
                    <a:lstStyle/>
                    <a:p>
                      <a:pPr marL="0" indent="0">
                        <a:buNone/>
                      </a:pPr>
                      <a:r>
                        <a:rPr lang="en-US" sz="1300" dirty="0">
                          <a:solidFill>
                            <a:schemeClr val="tx1"/>
                          </a:solidFill>
                        </a:rPr>
                        <a:t>Vel. constante (t = 0.880 s)</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0</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−1.467</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−1.467</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11480">
                <a:tc>
                  <a:txBody>
                    <a:bodyPr/>
                    <a:lstStyle/>
                    <a:p>
                      <a:pPr marL="0" indent="0">
                        <a:buNone/>
                      </a:pPr>
                      <a:r>
                        <a:rPr lang="en-US" sz="1300" dirty="0">
                          <a:solidFill>
                            <a:schemeClr val="tx1"/>
                          </a:solidFill>
                        </a:rPr>
                        <a:t>Desaceleración (t = 1.635 s)</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−2.63</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−0.084</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−1.121</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−1.205</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graphicFrame>
        <p:nvGraphicFramePr>
          <p:cNvPr id="51" name="tabla-208"/>
          <p:cNvGraphicFramePr>
            <a:graphicFrameLocks noGrp="1"/>
          </p:cNvGraphicFramePr>
          <p:nvPr>
            <p:extLst>
              <p:ext uri="{D42A27DB-BD31-4B8C-83A1-F6EECF244321}">
                <p14:modId xmlns:p14="http://schemas.microsoft.com/office/powerpoint/2010/main" val="1579011935"/>
              </p:ext>
            </p:extLst>
          </p:nvPr>
        </p:nvGraphicFramePr>
        <p:xfrm>
          <a:off x="7772400" y="1325880"/>
          <a:ext cx="3867912" cy="1645920"/>
        </p:xfrm>
        <a:graphic>
          <a:graphicData uri="http://schemas.openxmlformats.org/drawingml/2006/table">
            <a:tbl>
              <a:tblPr/>
              <a:tblGrid>
                <a:gridCol w="5486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70432">
                  <a:extLst>
                    <a:ext uri="{9D8B030D-6E8A-4147-A177-3AD203B41FA5}">
                      <a16:colId xmlns:a16="http://schemas.microsoft.com/office/drawing/2014/main" val="20003"/>
                    </a:ext>
                  </a:extLst>
                </a:gridCol>
              </a:tblGrid>
              <a:tr h="411480">
                <a:tc>
                  <a:txBody>
                    <a:bodyPr/>
                    <a:lstStyle/>
                    <a:p>
                      <a:pPr marL="0" indent="0">
                        <a:buNone/>
                      </a:pPr>
                      <a:r>
                        <a:rPr lang="en-US" sz="1300" b="1" dirty="0">
                          <a:solidFill>
                            <a:schemeClr val="bg1"/>
                          </a:solidFill>
                        </a:rPr>
                        <a:t>k</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t_f [s]</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|τ_I| máx</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marL="0" indent="0">
                        <a:buNone/>
                      </a:pPr>
                      <a:r>
                        <a:rPr lang="en-US" sz="1300" b="1" dirty="0">
                          <a:solidFill>
                            <a:schemeClr val="bg1"/>
                          </a:solidFill>
                        </a:rPr>
                        <a:t>|τ| máx</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11480">
                <a:tc>
                  <a:txBody>
                    <a:bodyPr/>
                    <a:lstStyle/>
                    <a:p>
                      <a:pPr marL="0" indent="0">
                        <a:buNone/>
                      </a:pPr>
                      <a:r>
                        <a:rPr lang="en-US" sz="1300" dirty="0">
                          <a:solidFill>
                            <a:schemeClr val="tx1"/>
                          </a:solidFill>
                        </a:rPr>
                        <a:t>1</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1.76</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0.084</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1.521</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11480">
                <a:tc>
                  <a:txBody>
                    <a:bodyPr/>
                    <a:lstStyle/>
                    <a:p>
                      <a:pPr marL="0" indent="0">
                        <a:buNone/>
                      </a:pPr>
                      <a:r>
                        <a:rPr lang="en-US" sz="1300" dirty="0">
                          <a:solidFill>
                            <a:schemeClr val="tx1"/>
                          </a:solidFill>
                        </a:rPr>
                        <a:t>2</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0.88</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0.337</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marL="0" indent="0">
                        <a:buNone/>
                      </a:pPr>
                      <a:r>
                        <a:rPr lang="en-US" sz="1300" dirty="0">
                          <a:solidFill>
                            <a:schemeClr val="tx1"/>
                          </a:solidFill>
                        </a:rPr>
                        <a:t>1.521</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11480">
                <a:tc>
                  <a:txBody>
                    <a:bodyPr/>
                    <a:lstStyle/>
                    <a:p>
                      <a:pPr marL="0" indent="0">
                        <a:buNone/>
                      </a:pPr>
                      <a:r>
                        <a:rPr lang="en-US" sz="1300" dirty="0">
                          <a:solidFill>
                            <a:schemeClr val="tx1"/>
                          </a:solidFill>
                        </a:rPr>
                        <a:t>4</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0.44</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1.348</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marL="0" indent="0">
                        <a:buNone/>
                      </a:pPr>
                      <a:r>
                        <a:rPr lang="en-US" sz="1300" dirty="0">
                          <a:solidFill>
                            <a:schemeClr val="tx1"/>
                          </a:solidFill>
                        </a:rPr>
                        <a:t>2.529</a:t>
                      </a:r>
                      <a:endParaRPr lang="en-US" sz="1300" dirty="0"/>
                    </a:p>
                  </a:txBody>
                  <a:tcPr marL="73152" marR="73152" marT="36576" marB="36576"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6" name="tarjeta-VELOCIDAD CONSTANTE ≠ TORQUE CERO-209"/>
          <p:cNvSpPr/>
          <p:nvPr/>
        </p:nvSpPr>
        <p:spPr>
          <a:xfrm>
            <a:off x="548640" y="3291840"/>
            <a:ext cx="3520440" cy="1828800"/>
          </a:xfrm>
          <a:prstGeom prst="roundRect">
            <a:avLst>
              <a:gd name="adj" fmla="val 4000"/>
            </a:avLst>
          </a:prstGeom>
          <a:solidFill>
            <a:schemeClr val="bg2"/>
          </a:solidFill>
          <a:ln w="12700">
            <a:solidFill>
              <a:schemeClr val="bg2"/>
            </a:solidFill>
            <a:prstDash val="solid"/>
          </a:ln>
        </p:spPr>
      </p:sp>
      <p:sp>
        <p:nvSpPr>
          <p:cNvPr id="7" name="texto-VELOCIDAD CONSTANTE ≠ TORQUE CERO-210"/>
          <p:cNvSpPr txBox="1"/>
          <p:nvPr/>
        </p:nvSpPr>
        <p:spPr>
          <a:xfrm>
            <a:off x="731520" y="3401568"/>
            <a:ext cx="3154680" cy="16093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VELOCIDAD CONSTANTE ≠ TORQUE CERO</a:t>
            </a:r>
            <a:endParaRPr lang="en-US" sz="1200" dirty="0"/>
          </a:p>
          <a:p>
            <a:pPr marL="0" indent="0">
              <a:spcAft>
                <a:spcPts val="200"/>
              </a:spcAft>
              <a:buNone/>
            </a:pPr>
            <a:r>
              <a:rPr lang="en-US" sz="1300" dirty="0">
                <a:solidFill>
                  <a:schemeClr val="tx1"/>
                </a:solidFill>
              </a:rPr>
              <a:t>En crucero θ'' = 0, pero la gravedad sigue: τ = −1.47 N·m (W09b diap. 8).</a:t>
            </a:r>
            <a:endParaRPr lang="en-US" sz="1200" dirty="0"/>
          </a:p>
        </p:txBody>
      </p:sp>
      <p:sp>
        <p:nvSpPr>
          <p:cNvPr id="8" name="tarjeta-MÁS RÁPIDO = MÁS INERCIA-211"/>
          <p:cNvSpPr/>
          <p:nvPr/>
        </p:nvSpPr>
        <p:spPr>
          <a:xfrm>
            <a:off x="4206240" y="3291840"/>
            <a:ext cx="3520440" cy="1828800"/>
          </a:xfrm>
          <a:prstGeom prst="roundRect">
            <a:avLst>
              <a:gd name="adj" fmla="val 4000"/>
            </a:avLst>
          </a:prstGeom>
          <a:solidFill>
            <a:schemeClr val="bg2"/>
          </a:solidFill>
          <a:ln w="12700">
            <a:solidFill>
              <a:schemeClr val="bg2"/>
            </a:solidFill>
            <a:prstDash val="solid"/>
          </a:ln>
        </p:spPr>
      </p:sp>
      <p:sp>
        <p:nvSpPr>
          <p:cNvPr id="9" name="texto-MÁS RÁPIDO = MÁS INERCIA-212"/>
          <p:cNvSpPr txBox="1"/>
          <p:nvPr/>
        </p:nvSpPr>
        <p:spPr>
          <a:xfrm>
            <a:off x="4389120" y="3401568"/>
            <a:ext cx="3154680" cy="16093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MÁS RÁPIDO = MÁS INERCIA</a:t>
            </a:r>
            <a:endParaRPr lang="en-US" sz="1200" dirty="0"/>
          </a:p>
          <a:p>
            <a:pPr marL="0" indent="0">
              <a:spcAft>
                <a:spcPts val="200"/>
              </a:spcAft>
              <a:buNone/>
            </a:pPr>
            <a:r>
              <a:rPr lang="en-US" sz="1300" dirty="0">
                <a:solidFill>
                  <a:schemeClr val="tx1"/>
                </a:solidFill>
              </a:rPr>
              <a:t>Con t_f/k, θ'' crece k²; con k = 4 el pico se mueve a las rampas (W09b diap. 2).</a:t>
            </a:r>
            <a:endParaRPr lang="en-US" sz="1200" dirty="0"/>
          </a:p>
        </p:txBody>
      </p:sp>
      <p:sp>
        <p:nvSpPr>
          <p:cNvPr id="10" name="tarjeta-SINGULAR ≠ TORQUE ALTO-213"/>
          <p:cNvSpPr/>
          <p:nvPr/>
        </p:nvSpPr>
        <p:spPr>
          <a:xfrm>
            <a:off x="7863840" y="3291840"/>
            <a:ext cx="3776472" cy="1828800"/>
          </a:xfrm>
          <a:prstGeom prst="roundRect">
            <a:avLst>
              <a:gd name="adj" fmla="val 4000"/>
            </a:avLst>
          </a:prstGeom>
          <a:solidFill>
            <a:schemeClr val="bg2"/>
          </a:solidFill>
          <a:ln w="12700">
            <a:solidFill>
              <a:schemeClr val="bg2"/>
            </a:solidFill>
            <a:prstDash val="solid"/>
          </a:ln>
        </p:spPr>
      </p:sp>
      <p:sp>
        <p:nvSpPr>
          <p:cNvPr id="11" name="texto-SINGULAR ≠ TORQUE ALTO-214"/>
          <p:cNvSpPr txBox="1"/>
          <p:nvPr/>
        </p:nvSpPr>
        <p:spPr>
          <a:xfrm>
            <a:off x="8046720" y="3401568"/>
            <a:ext cx="3410712" cy="1609344"/>
          </a:xfrm>
          <a:prstGeom prst="rect">
            <a:avLst/>
          </a:prstGeom>
          <a:noFill/>
          <a:ln/>
        </p:spPr>
        <p:txBody>
          <a:bodyPr wrap="square" lIns="0" tIns="0" rIns="0" bIns="0" rtlCol="0" anchor="t"/>
          <a:lstStyle/>
          <a:p>
            <a:pPr marL="0" indent="0">
              <a:spcAft>
                <a:spcPts val="200"/>
              </a:spcAft>
              <a:buNone/>
            </a:pPr>
            <a:r>
              <a:rPr lang="en-US" sz="1200" b="1" dirty="0">
                <a:solidFill>
                  <a:schemeClr val="tx2"/>
                </a:solidFill>
              </a:rPr>
              <a:t>SINGULAR ≠ TORQUE ALTO</a:t>
            </a:r>
            <a:endParaRPr lang="en-US" sz="1200" dirty="0"/>
          </a:p>
          <a:p>
            <a:pPr marL="0" indent="0">
              <a:spcAft>
                <a:spcPts val="200"/>
              </a:spcAft>
              <a:buNone/>
            </a:pPr>
            <a:r>
              <a:rPr lang="en-US" sz="1300" dirty="0">
                <a:solidFill>
                  <a:schemeClr val="tx1"/>
                </a:solidFill>
              </a:rPr>
              <a:t>En t = 0 rango 5 y τ = −1.40 N·m; el pico está en postura regular (W09b diap. 9).</a:t>
            </a:r>
            <a:endParaRPr lang="en-US" sz="1200" dirty="0"/>
          </a:p>
        </p:txBody>
      </p:sp>
      <p:sp>
        <p:nvSpPr>
          <p:cNvPr id="12" name="pie-215"/>
          <p:cNvSpPr txBox="1"/>
          <p:nvPr/>
        </p:nvSpPr>
        <p:spPr>
          <a:xfrm>
            <a:off x="548640" y="5760720"/>
            <a:ext cx="11091672" cy="320040"/>
          </a:xfrm>
          <a:prstGeom prst="rect">
            <a:avLst/>
          </a:prstGeom>
          <a:noFill/>
          <a:ln/>
        </p:spPr>
        <p:txBody>
          <a:bodyPr wrap="square" lIns="0" tIns="0" rIns="0" bIns="0" rtlCol="0" anchor="ctr"/>
          <a:lstStyle/>
          <a:p>
            <a:pPr marL="0" indent="0">
              <a:buNone/>
            </a:pPr>
            <a:r>
              <a:rPr lang="en-US" sz="1200" dirty="0">
                <a:solidFill>
                  <a:schemeClr val="accent3"/>
                </a:solidFill>
              </a:rPr>
              <a:t>Fuente: notebook celdas 67, 72 y 75 · solucionario W09-S02 ejercicios 5, 6 y 7 · G2 §3.4</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insignia-216"/>
          <p:cNvSpPr/>
          <p:nvPr/>
        </p:nvSpPr>
        <p:spPr>
          <a:xfrm>
            <a:off x="822960" y="2331720"/>
            <a:ext cx="1234440" cy="1234440"/>
          </a:xfrm>
          <a:prstGeom prst="ellipse">
            <a:avLst/>
          </a:prstGeom>
          <a:solidFill>
            <a:schemeClr val="accent1"/>
          </a:solidFill>
          <a:ln w="12700">
            <a:solidFill>
              <a:schemeClr val="accent1"/>
            </a:solidFill>
            <a:prstDash val="solid"/>
          </a:ln>
        </p:spPr>
      </p:sp>
      <p:sp>
        <p:nvSpPr>
          <p:cNvPr id="3" name="numero-217"/>
          <p:cNvSpPr txBox="1"/>
          <p:nvPr/>
        </p:nvSpPr>
        <p:spPr>
          <a:xfrm>
            <a:off x="822960" y="2331720"/>
            <a:ext cx="1234440" cy="1234440"/>
          </a:xfrm>
          <a:prstGeom prst="rect">
            <a:avLst/>
          </a:prstGeom>
          <a:noFill/>
          <a:ln/>
        </p:spPr>
        <p:txBody>
          <a:bodyPr wrap="square" lIns="0" tIns="0" rIns="0" bIns="0" rtlCol="0" anchor="ctr"/>
          <a:lstStyle/>
          <a:p>
            <a:pPr marL="0" indent="0" algn="ctr">
              <a:buNone/>
            </a:pPr>
            <a:r>
              <a:rPr lang="en-US" sz="4000" b="1" dirty="0">
                <a:solidFill>
                  <a:schemeClr val="bg1"/>
                </a:solidFill>
                <a:latin typeface="Cambria" pitchFamily="34" charset="0"/>
                <a:ea typeface="Cambria" pitchFamily="34" charset="-122"/>
                <a:cs typeface="Cambria" pitchFamily="34" charset="-120"/>
              </a:rPr>
              <a:t>7</a:t>
            </a:r>
            <a:endParaRPr lang="en-US" sz="4000" dirty="0"/>
          </a:p>
        </p:txBody>
      </p:sp>
      <p:sp>
        <p:nvSpPr>
          <p:cNvPr id="4" name="Text 0"/>
          <p:cNvSpPr>
            <a:spLocks noGrp="1"/>
          </p:cNvSpPr>
          <p:nvPr>
            <p:ph type="title" idx="100" hasCustomPrompt="1"/>
          </p:nvPr>
        </p:nvSpPr>
        <p:spPr>
          <a:xfrm>
            <a:off x="2377440" y="2377440"/>
            <a:ext cx="9052560" cy="1097280"/>
          </a:xfrm>
          <a:prstGeom prst="rect">
            <a:avLst/>
          </a:prstGeom>
          <a:noFill/>
          <a:ln/>
        </p:spPr>
        <p:txBody>
          <a:bodyPr wrap="square" rtlCol="0" anchor="ctr"/>
          <a:lstStyle/>
          <a:p>
            <a:pPr marL="0" indent="0" algn="l">
              <a:buNone/>
            </a:pPr>
            <a:r>
              <a:rPr lang="en-US" sz="4000" b="1" dirty="0">
                <a:solidFill>
                  <a:schemeClr val="bg1"/>
                </a:solidFill>
                <a:latin typeface="Cambria" pitchFamily="34" charset="0"/>
                <a:ea typeface="Cambria" pitchFamily="34" charset="-122"/>
                <a:cs typeface="Cambria" pitchFamily="34" charset="-120"/>
              </a:rPr>
              <a:t>Decisiones del grupo y defensa</a:t>
            </a:r>
            <a:endParaRPr lang="en-US" sz="4000" dirty="0"/>
          </a:p>
        </p:txBody>
      </p:sp>
      <p:sp>
        <p:nvSpPr>
          <p:cNvPr id="5" name="Text 0"/>
          <p:cNvSpPr>
            <a:spLocks noGrp="1"/>
          </p:cNvSpPr>
          <p:nvPr>
            <p:ph type="body" idx="101" hasCustomPrompt="1"/>
          </p:nvPr>
        </p:nvSpPr>
        <p:spPr>
          <a:xfrm>
            <a:off x="2377440" y="3474720"/>
            <a:ext cx="9052560" cy="1280160"/>
          </a:xfrm>
          <a:prstGeom prst="rect">
            <a:avLst/>
          </a:prstGeom>
          <a:noFill/>
          <a:ln/>
        </p:spPr>
        <p:txBody>
          <a:bodyPr wrap="square" rtlCol="0" anchor="t"/>
          <a:lstStyle/>
          <a:p>
            <a:pPr marL="0" indent="0">
              <a:buNone/>
            </a:pPr>
            <a:r>
              <a:rPr lang="en-US" sz="1800" dirty="0">
                <a:solidFill>
                  <a:schemeClr val="bg2"/>
                </a:solidFill>
              </a:rPr>
              <a:t>Lo que no sale de la bibliografía, y cómo responder las preguntas probables</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20040"/>
            <a:ext cx="11064240" cy="777240"/>
          </a:xfrm>
          <a:prstGeom prst="rect">
            <a:avLst/>
          </a:prstGeom>
          <a:noFill/>
          <a:ln/>
        </p:spPr>
        <p:txBody>
          <a:bodyPr wrap="square" rtlCol="0" anchor="ctr"/>
          <a:lstStyle/>
          <a:p>
            <a:pPr marL="0" indent="0">
              <a:buNone/>
            </a:pPr>
            <a:r>
              <a:rPr lang="en-US" sz="3000" b="1" dirty="0">
                <a:solidFill>
                  <a:schemeClr val="tx2"/>
                </a:solidFill>
                <a:latin typeface="Cambria" pitchFamily="34" charset="0"/>
                <a:ea typeface="Cambria" pitchFamily="34" charset="-122"/>
                <a:cs typeface="Cambria" pitchFamily="34" charset="-120"/>
              </a:rPr>
              <a:t>Preguntas probables de defensa</a:t>
            </a:r>
            <a:endParaRPr lang="en-US" sz="3000" dirty="0"/>
          </a:p>
        </p:txBody>
      </p:sp>
      <p:sp>
        <p:nvSpPr>
          <p:cNvPr id="4" name="qa-219"/>
          <p:cNvSpPr/>
          <p:nvPr/>
        </p:nvSpPr>
        <p:spPr>
          <a:xfrm>
            <a:off x="548640" y="1325880"/>
            <a:ext cx="5468112" cy="1417320"/>
          </a:xfrm>
          <a:prstGeom prst="roundRect">
            <a:avLst>
              <a:gd name="adj" fmla="val 5161"/>
            </a:avLst>
          </a:prstGeom>
          <a:solidFill>
            <a:schemeClr val="bg2"/>
          </a:solidFill>
          <a:ln w="12700">
            <a:solidFill>
              <a:schemeClr val="bg2"/>
            </a:solidFill>
            <a:prstDash val="solid"/>
          </a:ln>
        </p:spPr>
      </p:sp>
      <p:sp>
        <p:nvSpPr>
          <p:cNvPr id="5" name="texto-qa-220"/>
          <p:cNvSpPr txBox="1"/>
          <p:nvPr/>
        </p:nvSpPr>
        <p:spPr>
          <a:xfrm>
            <a:off x="749808" y="1435608"/>
            <a:ext cx="5065776" cy="1197864"/>
          </a:xfrm>
          <a:prstGeom prst="rect">
            <a:avLst/>
          </a:prstGeom>
          <a:noFill/>
          <a:ln/>
        </p:spPr>
        <p:txBody>
          <a:bodyPr wrap="square" lIns="0" tIns="0" rIns="0" bIns="0" rtlCol="0" anchor="t"/>
          <a:lstStyle/>
          <a:p>
            <a:pPr marL="0" indent="0">
              <a:spcAft>
                <a:spcPts val="400"/>
              </a:spcAft>
              <a:buNone/>
            </a:pPr>
            <a:r>
              <a:rPr lang="en-US" sz="1500" b="1" dirty="0">
                <a:solidFill>
                  <a:schemeClr val="tx2"/>
                </a:solidFill>
              </a:rPr>
              <a:t>¿Por qué A₁···A₆ y no al revés?</a:t>
            </a:r>
            <a:endParaRPr lang="en-US" sz="1500" dirty="0"/>
          </a:p>
          <a:p>
            <a:pPr marL="0" indent="0">
              <a:spcAft>
                <a:spcPts val="400"/>
              </a:spcAft>
              <a:buNone/>
            </a:pPr>
            <a:r>
              <a:rPr lang="en-US" sz="1400" dirty="0">
                <a:solidFill>
                  <a:schemeClr val="tx1"/>
                </a:solidFill>
              </a:rPr>
              <a:t>Cada A_i está en el marco móvil anterior: se post-multiplica (Siciliano §2.3).</a:t>
            </a:r>
            <a:endParaRPr lang="en-US" sz="1500" dirty="0"/>
          </a:p>
        </p:txBody>
      </p:sp>
      <p:sp>
        <p:nvSpPr>
          <p:cNvPr id="6" name="qa-221"/>
          <p:cNvSpPr/>
          <p:nvPr/>
        </p:nvSpPr>
        <p:spPr>
          <a:xfrm>
            <a:off x="6172200" y="1325880"/>
            <a:ext cx="5468112" cy="1417320"/>
          </a:xfrm>
          <a:prstGeom prst="roundRect">
            <a:avLst>
              <a:gd name="adj" fmla="val 5161"/>
            </a:avLst>
          </a:prstGeom>
          <a:solidFill>
            <a:schemeClr val="accent5"/>
          </a:solidFill>
          <a:ln w="12700">
            <a:solidFill>
              <a:schemeClr val="accent5"/>
            </a:solidFill>
            <a:prstDash val="solid"/>
          </a:ln>
        </p:spPr>
      </p:sp>
      <p:sp>
        <p:nvSpPr>
          <p:cNvPr id="7" name="texto-qa-222"/>
          <p:cNvSpPr txBox="1"/>
          <p:nvPr/>
        </p:nvSpPr>
        <p:spPr>
          <a:xfrm>
            <a:off x="6373368" y="1435608"/>
            <a:ext cx="5065776" cy="1197864"/>
          </a:xfrm>
          <a:prstGeom prst="rect">
            <a:avLst/>
          </a:prstGeom>
          <a:noFill/>
          <a:ln/>
        </p:spPr>
        <p:txBody>
          <a:bodyPr wrap="square" lIns="0" tIns="0" rIns="0" bIns="0" rtlCol="0" anchor="t"/>
          <a:lstStyle/>
          <a:p>
            <a:pPr marL="0" indent="0">
              <a:spcAft>
                <a:spcPts val="400"/>
              </a:spcAft>
              <a:buNone/>
            </a:pPr>
            <a:r>
              <a:rPr lang="en-US" sz="1500" b="1" dirty="0">
                <a:solidFill>
                  <a:schemeClr val="tx2"/>
                </a:solidFill>
              </a:rPr>
              <a:t>¿La IK es calcular T⁻¹?</a:t>
            </a:r>
            <a:endParaRPr lang="en-US" sz="1500" dirty="0"/>
          </a:p>
          <a:p>
            <a:pPr marL="0" indent="0">
              <a:spcAft>
                <a:spcPts val="400"/>
              </a:spcAft>
              <a:buNone/>
            </a:pPr>
            <a:r>
              <a:rPr lang="en-US" sz="1400" dirty="0">
                <a:solidFill>
                  <a:schemeClr val="tx1"/>
                </a:solidFill>
              </a:rPr>
              <a:t>No: T⁻¹ invierte la transformación, no devuelve q (W07 diap. 2).</a:t>
            </a:r>
            <a:endParaRPr lang="en-US" sz="1500" dirty="0"/>
          </a:p>
        </p:txBody>
      </p:sp>
      <p:sp>
        <p:nvSpPr>
          <p:cNvPr id="8" name="qa-223"/>
          <p:cNvSpPr/>
          <p:nvPr/>
        </p:nvSpPr>
        <p:spPr>
          <a:xfrm>
            <a:off x="548640" y="2926080"/>
            <a:ext cx="5468112" cy="1417320"/>
          </a:xfrm>
          <a:prstGeom prst="roundRect">
            <a:avLst>
              <a:gd name="adj" fmla="val 5161"/>
            </a:avLst>
          </a:prstGeom>
          <a:solidFill>
            <a:schemeClr val="accent5"/>
          </a:solidFill>
          <a:ln w="12700">
            <a:solidFill>
              <a:schemeClr val="accent5"/>
            </a:solidFill>
            <a:prstDash val="solid"/>
          </a:ln>
        </p:spPr>
      </p:sp>
      <p:sp>
        <p:nvSpPr>
          <p:cNvPr id="9" name="texto-qa-224"/>
          <p:cNvSpPr txBox="1"/>
          <p:nvPr/>
        </p:nvSpPr>
        <p:spPr>
          <a:xfrm>
            <a:off x="749808" y="3035808"/>
            <a:ext cx="5065776" cy="1197864"/>
          </a:xfrm>
          <a:prstGeom prst="rect">
            <a:avLst/>
          </a:prstGeom>
          <a:noFill/>
          <a:ln/>
        </p:spPr>
        <p:txBody>
          <a:bodyPr wrap="square" lIns="0" tIns="0" rIns="0" bIns="0" rtlCol="0" anchor="t"/>
          <a:lstStyle/>
          <a:p>
            <a:pPr marL="0" indent="0">
              <a:spcAft>
                <a:spcPts val="400"/>
              </a:spcAft>
              <a:buNone/>
            </a:pPr>
            <a:r>
              <a:rPr lang="en-US" sz="1500" b="1" dirty="0">
                <a:solidFill>
                  <a:schemeClr val="tx2"/>
                </a:solidFill>
              </a:rPr>
              <a:t>¿Por qué 8 soluciones?</a:t>
            </a:r>
            <a:endParaRPr lang="en-US" sz="1500" dirty="0"/>
          </a:p>
          <a:p>
            <a:pPr marL="0" indent="0">
              <a:spcAft>
                <a:spcPts val="400"/>
              </a:spcAft>
              <a:buNone/>
            </a:pPr>
            <a:r>
              <a:rPr lang="en-US" sz="1400" dirty="0">
                <a:solidFill>
                  <a:schemeClr val="tx1"/>
                </a:solidFill>
              </a:rPr>
              <a:t>2 cintura × 2 codo × 2 muñeca; cada signo es una postura real (W07 diap. 5, 10).</a:t>
            </a:r>
            <a:endParaRPr lang="en-US" sz="1500" dirty="0"/>
          </a:p>
        </p:txBody>
      </p:sp>
      <p:sp>
        <p:nvSpPr>
          <p:cNvPr id="10" name="qa-225"/>
          <p:cNvSpPr/>
          <p:nvPr/>
        </p:nvSpPr>
        <p:spPr>
          <a:xfrm>
            <a:off x="6172200" y="2926080"/>
            <a:ext cx="5468112" cy="1417320"/>
          </a:xfrm>
          <a:prstGeom prst="roundRect">
            <a:avLst>
              <a:gd name="adj" fmla="val 5161"/>
            </a:avLst>
          </a:prstGeom>
          <a:solidFill>
            <a:schemeClr val="bg2"/>
          </a:solidFill>
          <a:ln w="12700">
            <a:solidFill>
              <a:schemeClr val="bg2"/>
            </a:solidFill>
            <a:prstDash val="solid"/>
          </a:ln>
        </p:spPr>
      </p:sp>
      <p:sp>
        <p:nvSpPr>
          <p:cNvPr id="11" name="texto-qa-226"/>
          <p:cNvSpPr txBox="1"/>
          <p:nvPr/>
        </p:nvSpPr>
        <p:spPr>
          <a:xfrm>
            <a:off x="6373368" y="3035808"/>
            <a:ext cx="5065776" cy="1197864"/>
          </a:xfrm>
          <a:prstGeom prst="rect">
            <a:avLst/>
          </a:prstGeom>
          <a:noFill/>
          <a:ln/>
        </p:spPr>
        <p:txBody>
          <a:bodyPr wrap="square" lIns="0" tIns="0" rIns="0" bIns="0" rtlCol="0" anchor="t"/>
          <a:lstStyle/>
          <a:p>
            <a:pPr marL="0" indent="0">
              <a:spcAft>
                <a:spcPts val="400"/>
              </a:spcAft>
              <a:buNone/>
            </a:pPr>
            <a:r>
              <a:rPr lang="en-US" sz="1500" b="1" dirty="0">
                <a:solidFill>
                  <a:schemeClr val="tx2"/>
                </a:solidFill>
              </a:rPr>
              <a:t>¿Por qué 0.222 m si d₆ = 0.072 m?</a:t>
            </a:r>
            <a:endParaRPr lang="en-US" sz="1500" dirty="0"/>
          </a:p>
          <a:p>
            <a:pPr marL="0" indent="0">
              <a:spcAft>
                <a:spcPts val="400"/>
              </a:spcAft>
              <a:buNone/>
            </a:pPr>
            <a:r>
              <a:rPr lang="en-US" sz="1400" dirty="0">
                <a:solidFill>
                  <a:schemeClr val="tx1"/>
                </a:solidFill>
              </a:rPr>
              <a:t>La tabla llega a la brida; T_d es el TCP, 0.150 m más allá.</a:t>
            </a:r>
            <a:endParaRPr lang="en-US" sz="1500" dirty="0"/>
          </a:p>
        </p:txBody>
      </p:sp>
      <p:sp>
        <p:nvSpPr>
          <p:cNvPr id="12" name="qa-227"/>
          <p:cNvSpPr/>
          <p:nvPr/>
        </p:nvSpPr>
        <p:spPr>
          <a:xfrm>
            <a:off x="548640" y="4526280"/>
            <a:ext cx="5468112" cy="1417320"/>
          </a:xfrm>
          <a:prstGeom prst="roundRect">
            <a:avLst>
              <a:gd name="adj" fmla="val 5161"/>
            </a:avLst>
          </a:prstGeom>
          <a:solidFill>
            <a:schemeClr val="bg2"/>
          </a:solidFill>
          <a:ln w="12700">
            <a:solidFill>
              <a:schemeClr val="bg2"/>
            </a:solidFill>
            <a:prstDash val="solid"/>
          </a:ln>
        </p:spPr>
      </p:sp>
      <p:sp>
        <p:nvSpPr>
          <p:cNvPr id="13" name="texto-qa-228"/>
          <p:cNvSpPr txBox="1"/>
          <p:nvPr/>
        </p:nvSpPr>
        <p:spPr>
          <a:xfrm>
            <a:off x="749808" y="4636008"/>
            <a:ext cx="5065776" cy="1197864"/>
          </a:xfrm>
          <a:prstGeom prst="rect">
            <a:avLst/>
          </a:prstGeom>
          <a:noFill/>
          <a:ln/>
        </p:spPr>
        <p:txBody>
          <a:bodyPr wrap="square" lIns="0" tIns="0" rIns="0" bIns="0" rtlCol="0" anchor="t"/>
          <a:lstStyle/>
          <a:p>
            <a:pPr marL="0" indent="0">
              <a:spcAft>
                <a:spcPts val="400"/>
              </a:spcAft>
              <a:buNone/>
            </a:pPr>
            <a:r>
              <a:rPr lang="en-US" sz="1500" b="1" dirty="0">
                <a:solidFill>
                  <a:schemeClr val="tx2"/>
                </a:solidFill>
              </a:rPr>
              <a:t>¿Por qué rango y no determinante?</a:t>
            </a:r>
            <a:endParaRPr lang="en-US" sz="1500" dirty="0"/>
          </a:p>
          <a:p>
            <a:pPr marL="0" indent="0">
              <a:spcAft>
                <a:spcPts val="400"/>
              </a:spcAft>
              <a:buNone/>
            </a:pPr>
            <a:r>
              <a:rPr lang="en-US" sz="1400" dirty="0">
                <a:solidFill>
                  <a:schemeClr val="tx1"/>
                </a:solidFill>
              </a:rPr>
              <a:t>El rango es la definición universal; det solo vale si J es cuadrada (W09a diap. 4).</a:t>
            </a:r>
            <a:endParaRPr lang="en-US" sz="1500" dirty="0"/>
          </a:p>
        </p:txBody>
      </p:sp>
      <p:sp>
        <p:nvSpPr>
          <p:cNvPr id="14" name="qa-229"/>
          <p:cNvSpPr/>
          <p:nvPr/>
        </p:nvSpPr>
        <p:spPr>
          <a:xfrm>
            <a:off x="6172200" y="4526280"/>
            <a:ext cx="5468112" cy="1417320"/>
          </a:xfrm>
          <a:prstGeom prst="roundRect">
            <a:avLst>
              <a:gd name="adj" fmla="val 5161"/>
            </a:avLst>
          </a:prstGeom>
          <a:solidFill>
            <a:schemeClr val="accent5"/>
          </a:solidFill>
          <a:ln w="12700">
            <a:solidFill>
              <a:schemeClr val="accent5"/>
            </a:solidFill>
            <a:prstDash val="solid"/>
          </a:ln>
        </p:spPr>
      </p:sp>
      <p:sp>
        <p:nvSpPr>
          <p:cNvPr id="15" name="texto-qa-230"/>
          <p:cNvSpPr txBox="1"/>
          <p:nvPr/>
        </p:nvSpPr>
        <p:spPr>
          <a:xfrm>
            <a:off x="6373368" y="4636008"/>
            <a:ext cx="5065776" cy="1197864"/>
          </a:xfrm>
          <a:prstGeom prst="rect">
            <a:avLst/>
          </a:prstGeom>
          <a:noFill/>
          <a:ln/>
        </p:spPr>
        <p:txBody>
          <a:bodyPr wrap="square" lIns="0" tIns="0" rIns="0" bIns="0" rtlCol="0" anchor="t"/>
          <a:lstStyle/>
          <a:p>
            <a:pPr marL="0" indent="0">
              <a:spcAft>
                <a:spcPts val="400"/>
              </a:spcAft>
              <a:buNone/>
            </a:pPr>
            <a:r>
              <a:rPr lang="en-US" sz="1500" b="1" dirty="0">
                <a:solidFill>
                  <a:schemeClr val="tx2"/>
                </a:solidFill>
              </a:rPr>
              <a:t>¿Torque cero en velocidad constante?</a:t>
            </a:r>
            <a:endParaRPr lang="en-US" sz="1500" dirty="0"/>
          </a:p>
          <a:p>
            <a:pPr marL="0" indent="0">
              <a:spcAft>
                <a:spcPts val="400"/>
              </a:spcAft>
              <a:buNone/>
            </a:pPr>
            <a:r>
              <a:rPr lang="en-US" sz="1400" dirty="0">
                <a:solidFill>
                  <a:schemeClr val="tx1"/>
                </a:solidFill>
              </a:rPr>
              <a:t>No: θ'' = 0 anula la inercia, la gravedad sigue (W09b diap. 8).</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3"/>
                </a:solidFill>
              </a:defRPr>
            </a:lvl1pPr>
          </a:lstStyle>
          <a:p>
            <a:pPr algn="r"/>
            <a:fld id="{F7021451-1387-4CA6-816F-3879F97B5CBC}" type="slidenum">
              <a:rPr lang="en-US" b="0"/>
              <a:t>28</a:t>
            </a:fld>
            <a:endParaRPr lang="en-US"/>
          </a:p>
        </p:txBody>
      </p:sp>
    </p:spTree>
  </p:cSld>
  <p:clrMapOvr>
    <a:masterClrMapping/>
  </p:clrMapOvr>
</p:sld>
</file>

<file path=ppt/theme/theme1.xml><?xml version="1.0" encoding="utf-8"?>
<a:theme xmlns:a="http://schemas.openxmlformats.org/drawingml/2006/main" name="Hito2 IRB120">
  <a:themeElements>
    <a:clrScheme name="Hito2 IRB120">
      <a:dk1>
        <a:srgbClr val="1B2631"/>
      </a:dk1>
      <a:lt1>
        <a:srgbClr val="FFFFFF"/>
      </a:lt1>
      <a:dk2>
        <a:srgbClr val="22313F"/>
      </a:dk2>
      <a:lt2>
        <a:srgbClr val="EEF2F5"/>
      </a:lt2>
      <a:accent1>
        <a:srgbClr val="E07A1F"/>
      </a:accent1>
      <a:accent2>
        <a:srgbClr val="1F7A8C"/>
      </a:accent2>
      <a:accent3>
        <a:srgbClr val="6C7A89"/>
      </a:accent3>
      <a:accent4>
        <a:srgbClr val="F4D6B8"/>
      </a:accent4>
      <a:accent5>
        <a:srgbClr val="D6E9ED"/>
      </a:accent5>
      <a:accent6>
        <a:srgbClr val="8E44AD"/>
      </a:accent6>
      <a:hlink>
        <a:srgbClr val="1F7A8C"/>
      </a:hlink>
      <a:folHlink>
        <a:srgbClr val="6C7A89"/>
      </a:folHlink>
    </a:clrScheme>
    <a:fontScheme name="Hito2 IRB120">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6820</Words>
  <Application>Microsoft Office PowerPoint</Application>
  <PresentationFormat>Panorámica</PresentationFormat>
  <Paragraphs>554</Paragraphs>
  <Slides>28</Slides>
  <Notes>28</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28</vt:i4>
      </vt:variant>
    </vt:vector>
  </HeadingPairs>
  <TitlesOfParts>
    <vt:vector size="32" baseType="lpstr">
      <vt:lpstr>Arial</vt:lpstr>
      <vt:lpstr>Calibri</vt:lpstr>
      <vt:lpstr>Cambria</vt:lpstr>
      <vt:lpstr>Hito2 IRB120</vt:lpstr>
      <vt:lpstr>Hito 2: del modelo DH al torque del ABB IRB 120</vt:lpstr>
      <vt:lpstr>Lo que eligió el grupo y por qué</vt:lpstr>
      <vt:lpstr>Resumen: siete pasos llevan al robot de q_i a T_d</vt:lpstr>
      <vt:lpstr>Las fuentes: diapositivas de clase primero, textos guía después</vt:lpstr>
      <vt:lpstr>Modelo DH y cinemática directa</vt:lpstr>
      <vt:lpstr>Cada eslabón es una matriz A_i de cuatro movimientos</vt:lpstr>
      <vt:lpstr>El TCP sale de multiplicar las seis matrices en orden</vt:lpstr>
      <vt:lpstr>Cinemática inversa por Pieper</vt:lpstr>
      <vt:lpstr>La muñeca esférica separa posición y orientación</vt:lpstr>
      <vt:lpstr>El brazo es el 2R de clase con un antebrazo desfasado</vt:lpstr>
      <vt:lpstr>La muñeca resuelve lo que falta como ángulos ZYZ</vt:lpstr>
      <vt:lpstr>Las 8 ramas existen, pero solo una cabe en los límites</vt:lpstr>
      <vt:lpstr>Validación por FK y selección de q_f</vt:lpstr>
      <vt:lpstr>Cada rama vuelve a la FK y se compara la pose completa</vt:lpstr>
      <vt:lpstr>Tres filtros de clase y un puntaje del grupo eligen q_f</vt:lpstr>
      <vt:lpstr>Trayectoria LSPB de q_i a q_f</vt:lpstr>
      <vt:lpstr>Tres fases con las ecuaciones exactas de W09-S01</vt:lpstr>
      <vt:lpstr>Las seis juntas comparten t_f y t_c; q6 marca el ritmo</vt:lpstr>
      <vt:lpstr>Jacobiano geométrico y singularidades</vt:lpstr>
      <vt:lpstr>Cada columna es lo que aporta una junta girando sola</vt:lpstr>
      <vt:lpstr>El IRB 120 pierde rango en tres familias de posturas</vt:lpstr>
      <vt:lpstr>Al acercar q5 a cero, la velocidad necesaria crece como 1/σ₆</vt:lpstr>
      <vt:lpstr>Dinámica reducida 1R sobre la LSPB</vt:lpstr>
      <vt:lpstr>Euler-Lagrange da el modelo 1R que pide la guía</vt:lpstr>
      <vt:lpstr>El codo pide su pico de torque sin estar acelerando</vt:lpstr>
      <vt:lpstr>Aceleración nula no es torque cero, y singular no es torque alto</vt:lpstr>
      <vt:lpstr>Decisiones del grupo y defensa</vt:lpstr>
      <vt:lpstr>Preguntas probables de defensa</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Hito 2 IRB 120: explicación del código</dc:title>
  <dc:subject>PptxGenJS Presentation</dc:subject>
  <dc:creator>Ricardo Velasco</dc:creator>
  <cp:lastModifiedBy>RICARDO VELASCO LOPEZ</cp:lastModifiedBy>
  <cp:revision>2</cp:revision>
  <dcterms:created xsi:type="dcterms:W3CDTF">2026-10-22T16:18:59Z</dcterms:created>
  <dcterms:modified xsi:type="dcterms:W3CDTF">2026-10-22T16:23:02Z</dcterms:modified>
</cp:coreProperties>
</file>